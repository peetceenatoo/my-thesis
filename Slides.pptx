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0" r:id="rId4"/>
    <p:sldId id="265" r:id="rId5"/>
    <p:sldId id="261" r:id="rId6"/>
    <p:sldId id="280" r:id="rId7"/>
    <p:sldId id="263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7" r:id="rId18"/>
    <p:sldId id="276" r:id="rId19"/>
    <p:sldId id="279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9F1"/>
    <a:srgbClr val="FFF8F4"/>
    <a:srgbClr val="FCFCFF"/>
    <a:srgbClr val="213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8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25/02/26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251979" y="6285667"/>
            <a:ext cx="368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1600" baseline="0" dirty="0">
                <a:solidFill>
                  <a:schemeClr val="bg1"/>
                </a:solidFill>
                <a:latin typeface="+mj-lt"/>
              </a:rPr>
              <a:t>Master of Science – Energy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‹#›</a:t>
            </a:fld>
            <a:r>
              <a:rPr lang="it-IT" dirty="0"/>
              <a:t>/19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2616" y="2766218"/>
            <a:ext cx="10526767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4000" i="1" dirty="0"/>
              <a:t>Online Bilateral Trade</a:t>
            </a:r>
            <a:r>
              <a:rPr lang="it-IT" sz="4000" dirty="0"/>
              <a:t>: </a:t>
            </a:r>
            <a:r>
              <a:rPr lang="it-IT" sz="4000" i="1" dirty="0"/>
              <a:t>Learning the Optimal Policy in a Stochastic Environment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58348" y="5648783"/>
            <a:ext cx="3527854" cy="336722"/>
          </a:xfrm>
        </p:spPr>
        <p:txBody>
          <a:bodyPr/>
          <a:lstStyle/>
          <a:p>
            <a:r>
              <a:rPr lang="it-IT" sz="1800" b="1" dirty="0"/>
              <a:t>M. Castiglioni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58348" y="5985505"/>
            <a:ext cx="3527854" cy="500475"/>
          </a:xfrm>
        </p:spPr>
        <p:txBody>
          <a:bodyPr/>
          <a:lstStyle/>
          <a:p>
            <a:r>
              <a:rPr lang="it-IT" dirty="0"/>
              <a:t>A. Lunghi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dirty="0"/>
              <a:t>A. Marchesi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8305798" y="5648783"/>
            <a:ext cx="3527854" cy="472259"/>
          </a:xfrm>
        </p:spPr>
        <p:txBody>
          <a:bodyPr/>
          <a:lstStyle/>
          <a:p>
            <a:r>
              <a:rPr lang="it-IT" sz="2800" b="1" dirty="0"/>
              <a:t>Mattia Piccinato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305798" y="6134175"/>
            <a:ext cx="3527854" cy="319859"/>
          </a:xfrm>
        </p:spPr>
        <p:txBody>
          <a:bodyPr/>
          <a:lstStyle/>
          <a:p>
            <a:r>
              <a:rPr lang="it-IT" sz="1800" dirty="0"/>
              <a:t>A.y. 2024-25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2DD2B-2BAF-1B22-ADD8-A31BDD1C0B06}"/>
              </a:ext>
            </a:extLst>
          </p:cNvPr>
          <p:cNvSpPr/>
          <p:nvPr/>
        </p:nvSpPr>
        <p:spPr>
          <a:xfrm>
            <a:off x="4459111" y="6129091"/>
            <a:ext cx="3273778" cy="649887"/>
          </a:xfrm>
          <a:prstGeom prst="rect">
            <a:avLst/>
          </a:prstGeom>
          <a:solidFill>
            <a:srgbClr val="213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</a:t>
            </a:fld>
            <a:r>
              <a:rPr lang="it-IT" dirty="0"/>
              <a:t>/19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Scenario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DB488E-CF85-9C1D-F046-44CE2A37269F}"/>
              </a:ext>
            </a:extLst>
          </p:cNvPr>
          <p:cNvGrpSpPr/>
          <p:nvPr/>
        </p:nvGrpSpPr>
        <p:grpSpPr>
          <a:xfrm>
            <a:off x="2356632" y="2657889"/>
            <a:ext cx="7478735" cy="1542222"/>
            <a:chOff x="1712638" y="2309820"/>
            <a:chExt cx="8630324" cy="1789962"/>
          </a:xfrm>
        </p:grpSpPr>
        <p:pic>
          <p:nvPicPr>
            <p:cNvPr id="9" name="Picture 8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1F19E4FD-4E20-233A-F8D4-38184A7BA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86" t="26407" r="13629" b="46654"/>
            <a:stretch>
              <a:fillRect/>
            </a:stretch>
          </p:blipFill>
          <p:spPr>
            <a:xfrm>
              <a:off x="1712638" y="2309820"/>
              <a:ext cx="4829515" cy="1789961"/>
            </a:xfrm>
            <a:prstGeom prst="rect">
              <a:avLst/>
            </a:prstGeom>
          </p:spPr>
        </p:pic>
        <p:pic>
          <p:nvPicPr>
            <p:cNvPr id="11" name="Picture 10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A5E0548B-F7CC-FC15-0BA7-A9B90A0C1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44" t="6990" r="7192" b="6990"/>
            <a:stretch>
              <a:fillRect/>
            </a:stretch>
          </p:blipFill>
          <p:spPr>
            <a:xfrm>
              <a:off x="7528561" y="2309820"/>
              <a:ext cx="2814401" cy="1789962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F361CF3-0CDD-9903-F364-75D5A8749DB2}"/>
              </a:ext>
            </a:extLst>
          </p:cNvPr>
          <p:cNvSpPr txBox="1"/>
          <p:nvPr/>
        </p:nvSpPr>
        <p:spPr>
          <a:xfrm>
            <a:off x="1563682" y="4714244"/>
            <a:ext cx="9064627" cy="75405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b="1" i="1" dirty="0">
                <a:solidFill>
                  <a:srgbClr val="213552"/>
                </a:solidFill>
              </a:rPr>
              <a:t>Myerson-Satterthwaite (1983)</a:t>
            </a:r>
          </a:p>
          <a:p>
            <a:pPr algn="ctr"/>
            <a:r>
              <a:rPr lang="en-GB" i="1" dirty="0"/>
              <a:t>“Efficiency, Incentive Compatibility, Individual Rationality and Budget Balance cannot all hold.”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94051-3967-0F7B-E9C2-D4A4BCF5D597}"/>
              </a:ext>
            </a:extLst>
          </p:cNvPr>
          <p:cNvSpPr txBox="1"/>
          <p:nvPr/>
        </p:nvSpPr>
        <p:spPr>
          <a:xfrm>
            <a:off x="2952632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Bilateral Trade</a:t>
            </a:r>
          </a:p>
        </p:txBody>
      </p:sp>
    </p:spTree>
    <p:extLst>
      <p:ext uri="{BB962C8B-B14F-4D97-AF65-F5344CB8AC3E}">
        <p14:creationId xmlns:p14="http://schemas.microsoft.com/office/powerpoint/2010/main" val="17015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0E5E-3B80-2917-81C7-84007EDB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09A8B-1A0D-5AD5-697D-4BAFB392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25206-E6D3-D08F-C939-B0BE5A9E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Framework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F2802-0C65-92C0-CA46-1884BD138319}"/>
              </a:ext>
            </a:extLst>
          </p:cNvPr>
          <p:cNvSpPr txBox="1"/>
          <p:nvPr/>
        </p:nvSpPr>
        <p:spPr>
          <a:xfrm>
            <a:off x="3041568" y="4705849"/>
            <a:ext cx="610885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b="1" i="1" dirty="0">
                <a:solidFill>
                  <a:srgbClr val="213552"/>
                </a:solidFill>
              </a:rPr>
              <a:t>Cesa-Bianchi et. al (2021)</a:t>
            </a:r>
          </a:p>
          <a:p>
            <a:pPr algn="ctr">
              <a:spcAft>
                <a:spcPts val="600"/>
              </a:spcAft>
            </a:pPr>
            <a:r>
              <a:rPr lang="en-GB" i="1" dirty="0"/>
              <a:t>“Bilateral Trade: A Regret Minimization Perspective”</a:t>
            </a:r>
            <a:endParaRPr lang="en-GB" sz="2000" b="1" i="1" dirty="0">
              <a:solidFill>
                <a:srgbClr val="21355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CAAC4-8590-76F4-E42C-1F82E3120EF1}"/>
              </a:ext>
            </a:extLst>
          </p:cNvPr>
          <p:cNvSpPr txBox="1"/>
          <p:nvPr/>
        </p:nvSpPr>
        <p:spPr>
          <a:xfrm>
            <a:off x="2394384" y="1380952"/>
            <a:ext cx="74032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Online Reinforcement Learning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EFC78A-F589-1DA6-43EC-CBFE1618B3AC}"/>
              </a:ext>
            </a:extLst>
          </p:cNvPr>
          <p:cNvGrpSpPr/>
          <p:nvPr/>
        </p:nvGrpSpPr>
        <p:grpSpPr>
          <a:xfrm>
            <a:off x="3767767" y="2521486"/>
            <a:ext cx="4656466" cy="1815028"/>
            <a:chOff x="3356467" y="2410114"/>
            <a:chExt cx="5479055" cy="2018665"/>
          </a:xfrm>
        </p:grpSpPr>
        <p:pic>
          <p:nvPicPr>
            <p:cNvPr id="13" name="Picture 12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D04A41D7-E609-DF18-D438-3626A8431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220" b="26039"/>
            <a:stretch>
              <a:fillRect/>
            </a:stretch>
          </p:blipFill>
          <p:spPr>
            <a:xfrm>
              <a:off x="3356467" y="2410114"/>
              <a:ext cx="5479055" cy="185341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2BECD1-E046-9427-73FD-9A2E87A1BC9F}"/>
                </a:ext>
              </a:extLst>
            </p:cNvPr>
            <p:cNvSpPr/>
            <p:nvPr/>
          </p:nvSpPr>
          <p:spPr>
            <a:xfrm>
              <a:off x="5607586" y="3690651"/>
              <a:ext cx="881349" cy="2423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6" name="Picture 15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7F5F7CC7-D136-C6DE-275B-D02731BC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78" t="58246" r="43539" b="35395"/>
            <a:stretch>
              <a:fillRect/>
            </a:stretch>
          </p:blipFill>
          <p:spPr>
            <a:xfrm>
              <a:off x="5664386" y="4210092"/>
              <a:ext cx="767748" cy="218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479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5090E-9FF6-14B6-CDB3-2FCFF925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522658-5A41-780C-0B9E-75DBAE62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378F3C-0ADD-E24F-AE43-E09DE89F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Objective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5ECF3-51C2-C761-02E0-903FF40129BA}"/>
              </a:ext>
            </a:extLst>
          </p:cNvPr>
          <p:cNvSpPr txBox="1"/>
          <p:nvPr/>
        </p:nvSpPr>
        <p:spPr>
          <a:xfrm>
            <a:off x="427676" y="1818039"/>
            <a:ext cx="73106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Gain From Trade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059835-A87F-3CF9-7093-FA7F2ABC98B2}"/>
                  </a:ext>
                </a:extLst>
              </p:cNvPr>
              <p:cNvSpPr txBox="1"/>
              <p:nvPr/>
            </p:nvSpPr>
            <p:spPr>
              <a:xfrm>
                <a:off x="427676" y="3085626"/>
                <a:ext cx="7310643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i="1" dirty="0"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Social Welfare   =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eqArrPr>
                          <m:e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     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𝑛𝑜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</m:e>
                          <m:e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𝐵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        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  <m:r>
                              <a:rPr lang="it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</m:e>
                        </m:eqArr>
                      </m:e>
                    </m:d>
                  </m:oMath>
                </a14:m>
                <a:endParaRPr lang="en-GB" i="1" dirty="0">
                  <a:solidFill>
                    <a:srgbClr val="000000"/>
                  </a:solidFill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059835-A87F-3CF9-7093-FA7F2AB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6" y="3085626"/>
                <a:ext cx="7310643" cy="710194"/>
              </a:xfrm>
              <a:prstGeom prst="rect">
                <a:avLst/>
              </a:prstGeom>
              <a:blipFill>
                <a:blip r:embed="rId2"/>
                <a:stretch>
                  <a:fillRect t="-186207" b="-27069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69A6D84-5D5A-D854-47D4-21C7EAF348D9}"/>
              </a:ext>
            </a:extLst>
          </p:cNvPr>
          <p:cNvGrpSpPr/>
          <p:nvPr/>
        </p:nvGrpSpPr>
        <p:grpSpPr>
          <a:xfrm>
            <a:off x="7872101" y="1157474"/>
            <a:ext cx="3240009" cy="2386024"/>
            <a:chOff x="11430599" y="-1297563"/>
            <a:chExt cx="3267777" cy="2549489"/>
          </a:xfrm>
        </p:grpSpPr>
        <p:pic>
          <p:nvPicPr>
            <p:cNvPr id="9" name="Picture 8" descr="A graph of a number of blue squares&#10;&#10;AI-generated content may be incorrect.">
              <a:extLst>
                <a:ext uri="{FF2B5EF4-FFF2-40B4-BE49-F238E27FC236}">
                  <a16:creationId xmlns:a16="http://schemas.microsoft.com/office/drawing/2014/main" id="{730674A9-F9D1-4958-6104-61A2C0670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0997" y="-1001587"/>
              <a:ext cx="2646983" cy="225351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B7A5060-4C32-4363-08BB-793C5659EB98}"/>
                    </a:ext>
                  </a:extLst>
                </p:cNvPr>
                <p:cNvSpPr txBox="1"/>
                <p:nvPr/>
              </p:nvSpPr>
              <p:spPr>
                <a:xfrm>
                  <a:off x="11430599" y="-1297563"/>
                  <a:ext cx="3267777" cy="2959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GB" sz="1200" b="1" i="1" dirty="0">
                      <a:solidFill>
                        <a:srgbClr val="213552"/>
                      </a:solidFill>
                    </a:rPr>
                    <a:t>Gain From Trade associated to </a:t>
                  </a:r>
                  <a14:m>
                    <m:oMath xmlns:m="http://schemas.openxmlformats.org/officeDocument/2006/math"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b="1" i="1" dirty="0">
                    <a:solidFill>
                      <a:srgbClr val="213552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B7A5060-4C32-4363-08BB-793C5659E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0599" y="-1297563"/>
                  <a:ext cx="3267777" cy="295976"/>
                </a:xfrm>
                <a:prstGeom prst="rect">
                  <a:avLst/>
                </a:prstGeom>
                <a:blipFill>
                  <a:blip r:embed="rId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46365E-9B0D-0B1A-7910-D2FB28DB3CF5}"/>
              </a:ext>
            </a:extLst>
          </p:cNvPr>
          <p:cNvGrpSpPr/>
          <p:nvPr/>
        </p:nvGrpSpPr>
        <p:grpSpPr>
          <a:xfrm>
            <a:off x="7872101" y="3717042"/>
            <a:ext cx="3352877" cy="2386024"/>
            <a:chOff x="8092668" y="3645709"/>
            <a:chExt cx="3267777" cy="2467422"/>
          </a:xfrm>
        </p:grpSpPr>
        <p:pic>
          <p:nvPicPr>
            <p:cNvPr id="13" name="Picture 12" descr="A blue and white graph&#10;&#10;AI-generated content may be incorrect.">
              <a:extLst>
                <a:ext uri="{FF2B5EF4-FFF2-40B4-BE49-F238E27FC236}">
                  <a16:creationId xmlns:a16="http://schemas.microsoft.com/office/drawing/2014/main" id="{8A10A67C-15CB-9256-3ABD-DEA9FABB7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1435" y="3932158"/>
              <a:ext cx="2610244" cy="218097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1470F14-AF99-1952-EAA9-9A3395AF6D65}"/>
                    </a:ext>
                  </a:extLst>
                </p:cNvPr>
                <p:cNvSpPr txBox="1"/>
                <p:nvPr/>
              </p:nvSpPr>
              <p:spPr>
                <a:xfrm>
                  <a:off x="8092668" y="3645709"/>
                  <a:ext cx="3267777" cy="2864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GB" sz="1200" b="1" i="1" dirty="0">
                      <a:solidFill>
                        <a:srgbClr val="213552"/>
                      </a:solidFill>
                    </a:rPr>
                    <a:t>Expected GFT associated to </a:t>
                  </a:r>
                  <a14:m>
                    <m:oMath xmlns:m="http://schemas.openxmlformats.org/officeDocument/2006/math"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it-IT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200" b="1" i="1" dirty="0" smtClean="0">
                          <a:solidFill>
                            <a:srgbClr val="21355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200" b="1" i="1" dirty="0">
                    <a:solidFill>
                      <a:srgbClr val="213552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1470F14-AF99-1952-EAA9-9A3395AF6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2668" y="3645709"/>
                  <a:ext cx="3267777" cy="28644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EB6F6-28C4-7B28-FBF4-1AAA3AFC51B9}"/>
                  </a:ext>
                </a:extLst>
              </p:cNvPr>
              <p:cNvSpPr txBox="1"/>
              <p:nvPr/>
            </p:nvSpPr>
            <p:spPr>
              <a:xfrm>
                <a:off x="427677" y="4259469"/>
                <a:ext cx="7310642" cy="778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2400" i="1" dirty="0"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Gain </a:t>
                </a:r>
                <a:r>
                  <a:rPr lang="it-IT" sz="2400" i="1" dirty="0">
                    <a:solidFill>
                      <a:srgbClr val="000000"/>
                    </a:solidFill>
                    <a:cs typeface="Calibri" panose="020F0502020204030204" pitchFamily="34" charset="0"/>
                  </a:rPr>
                  <a:t>From Trade   </a:t>
                </a:r>
                <a:r>
                  <a:rPr lang="it-IT" sz="2000" i="1" dirty="0"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=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eqArrPr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0              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𝑛𝑜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</m:t>
                            </m:r>
                          </m:e>
                          <m:e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𝐵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      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  <m:r>
                              <a:rPr lang="it-IT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</m:t>
                            </m:r>
                          </m:e>
                        </m:eqArr>
                      </m:e>
                    </m:d>
                    <m:r>
                      <a:rPr lang="it-IT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2000" i="1" dirty="0">
                  <a:solidFill>
                    <a:srgbClr val="000000"/>
                  </a:solidFill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EB6F6-28C4-7B28-FBF4-1AAA3AFC5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7" y="4259469"/>
                <a:ext cx="7310642" cy="778868"/>
              </a:xfrm>
              <a:prstGeom prst="rect">
                <a:avLst/>
              </a:prstGeom>
              <a:blipFill>
                <a:blip r:embed="rId7"/>
                <a:stretch>
                  <a:fillRect t="-195161" b="-28387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87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32EF-4F70-A3BB-3478-452562C8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139845-691B-FBA7-019E-462F8D7F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38FA8D-2FF1-94D4-DCC7-04D44633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Global Budget Balance</a:t>
            </a:r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88789" y="2382532"/>
            <a:ext cx="5604401" cy="2092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00D9D6-DDC7-FA60-5492-A394F3031E22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Budget Balance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FEEF5-E9D0-F15F-D41D-6C44C6D6690F}"/>
              </a:ext>
            </a:extLst>
          </p:cNvPr>
          <p:cNvSpPr txBox="1"/>
          <p:nvPr/>
        </p:nvSpPr>
        <p:spPr>
          <a:xfrm>
            <a:off x="2302867" y="4714242"/>
            <a:ext cx="758625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b="1" i="1" dirty="0">
                <a:solidFill>
                  <a:srgbClr val="213552"/>
                </a:solidFill>
              </a:rPr>
              <a:t>Bernasconi et al. (2024)</a:t>
            </a:r>
          </a:p>
          <a:p>
            <a:pPr algn="ctr">
              <a:buNone/>
            </a:pPr>
            <a:r>
              <a:rPr lang="en-GB" i="1" dirty="0">
                <a:solidFill>
                  <a:srgbClr val="000000"/>
                </a:solidFill>
                <a:effectLst/>
              </a:rPr>
              <a:t>“Is it possible to achieve sublinear regret in the adversarial setting </a:t>
            </a:r>
            <a:r>
              <a:rPr lang="en-GB" i="1" dirty="0">
                <a:solidFill>
                  <a:srgbClr val="000000"/>
                </a:solidFill>
              </a:rPr>
              <a:t>u</a:t>
            </a:r>
            <a:r>
              <a:rPr lang="en-GB" i="1" dirty="0">
                <a:solidFill>
                  <a:srgbClr val="000000"/>
                </a:solidFill>
                <a:effectLst/>
              </a:rPr>
              <a:t>nder a reasonable notion of budget balance?”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3DE94A-A897-E0B7-1B74-D16392CC0700}"/>
                  </a:ext>
                </a:extLst>
              </p:cNvPr>
              <p:cNvSpPr txBox="1"/>
              <p:nvPr/>
            </p:nvSpPr>
            <p:spPr>
              <a:xfrm>
                <a:off x="6788682" y="3073902"/>
                <a:ext cx="4901355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2000" i="1" dirty="0"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Profit   </a:t>
                </a:r>
                <a:r>
                  <a:rPr lang="it-IT" sz="1800" i="1" dirty="0"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=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eqArrPr>
                          <m:e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0              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𝑛𝑜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</m:t>
                            </m:r>
                          </m:e>
                          <m:e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𝑞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         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𝑖𝑛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𝑐𝑎𝑠𝑒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𝑜𝑓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𝑡𝑟𝑎𝑑𝑒</m:t>
                            </m:r>
                            <m:r>
                              <a:rPr lang="it-IT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 </m:t>
                            </m:r>
                          </m:e>
                        </m:eqArr>
                      </m:e>
                    </m:d>
                    <m:r>
                      <a:rPr lang="it-IT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800" i="1" dirty="0">
                  <a:solidFill>
                    <a:srgbClr val="000000"/>
                  </a:solidFill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3DE94A-A897-E0B7-1B74-D16392CC0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682" y="3073902"/>
                <a:ext cx="4901355" cy="710194"/>
              </a:xfrm>
              <a:prstGeom prst="rect">
                <a:avLst/>
              </a:prstGeom>
              <a:blipFill>
                <a:blip r:embed="rId3"/>
                <a:stretch>
                  <a:fillRect t="-186207" b="-27241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7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78C1-EAF2-1019-F438-BF52307B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7E8AB4-F472-7764-9694-B05CD33D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6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233CC-CE34-04E7-6160-1BD3D234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 new benchmark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2CC93-41C9-23BD-456E-5CF4E9CE70E5}"/>
              </a:ext>
            </a:extLst>
          </p:cNvPr>
          <p:cNvGrpSpPr/>
          <p:nvPr/>
        </p:nvGrpSpPr>
        <p:grpSpPr>
          <a:xfrm>
            <a:off x="588572" y="2177135"/>
            <a:ext cx="5507428" cy="2503729"/>
            <a:chOff x="588573" y="1648920"/>
            <a:chExt cx="6026418" cy="25207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0DA5B9B-90C3-C4E8-137D-7D552264DA7C}"/>
                </a:ext>
              </a:extLst>
            </p:cNvPr>
            <p:cNvSpPr txBox="1"/>
            <p:nvPr/>
          </p:nvSpPr>
          <p:spPr>
            <a:xfrm>
              <a:off x="588573" y="1648920"/>
              <a:ext cx="6026418" cy="712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4000" b="1" i="1" dirty="0">
                  <a:solidFill>
                    <a:srgbClr val="213552"/>
                  </a:solidFill>
                  <a:latin typeface="+mj-lt"/>
                </a:rPr>
                <a:t>Distributional Benchmark </a:t>
              </a:r>
            </a:p>
          </p:txBody>
        </p:sp>
        <p:pic>
          <p:nvPicPr>
            <p:cNvPr id="11" name="Picture 10" descr="A close-up of a math formula&#10;&#10;AI-generated content may be incorrect.">
              <a:extLst>
                <a:ext uri="{FF2B5EF4-FFF2-40B4-BE49-F238E27FC236}">
                  <a16:creationId xmlns:a16="http://schemas.microsoft.com/office/drawing/2014/main" id="{5BC3E00B-20E6-E54C-FCCA-4D2177D2B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337" y="2785355"/>
              <a:ext cx="5283200" cy="13843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915258-ABFE-8B9A-D073-4085D7845277}"/>
              </a:ext>
            </a:extLst>
          </p:cNvPr>
          <p:cNvGrpSpPr/>
          <p:nvPr/>
        </p:nvGrpSpPr>
        <p:grpSpPr>
          <a:xfrm>
            <a:off x="7304075" y="1550122"/>
            <a:ext cx="3840800" cy="4276903"/>
            <a:chOff x="7331268" y="1494366"/>
            <a:chExt cx="3840800" cy="42769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281F999-4E77-343F-2278-0ED98E4AB709}"/>
                </a:ext>
              </a:extLst>
            </p:cNvPr>
            <p:cNvGrpSpPr/>
            <p:nvPr/>
          </p:nvGrpSpPr>
          <p:grpSpPr>
            <a:xfrm>
              <a:off x="7331268" y="1494366"/>
              <a:ext cx="3840800" cy="1317743"/>
              <a:chOff x="7164000" y="1494366"/>
              <a:chExt cx="3840800" cy="131774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42CFA7-91C8-38B8-B147-032F96E7EB43}"/>
                  </a:ext>
                </a:extLst>
              </p:cNvPr>
              <p:cNvSpPr txBox="1"/>
              <p:nvPr/>
            </p:nvSpPr>
            <p:spPr>
              <a:xfrm>
                <a:off x="7899944" y="1494366"/>
                <a:ext cx="236891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2000" i="1" dirty="0">
                    <a:solidFill>
                      <a:srgbClr val="213552"/>
                    </a:solidFill>
                  </a:rPr>
                  <a:t>Strictly stronger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B0C3DD-A6E2-0D22-58FA-EAB131767CAA}"/>
                  </a:ext>
                </a:extLst>
              </p:cNvPr>
              <p:cNvSpPr txBox="1"/>
              <p:nvPr/>
            </p:nvSpPr>
            <p:spPr>
              <a:xfrm>
                <a:off x="7164000" y="1981112"/>
                <a:ext cx="38408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600" i="1" dirty="0">
                    <a:solidFill>
                      <a:srgbClr val="000000"/>
                    </a:solidFill>
                    <a:effectLst/>
                  </a:rPr>
                  <a:t>This benchmark is surely not weaker than th</a:t>
                </a:r>
                <a:r>
                  <a:rPr lang="en-GB" sz="1600" i="1" dirty="0">
                    <a:solidFill>
                      <a:srgbClr val="000000"/>
                    </a:solidFill>
                  </a:rPr>
                  <a:t>e best fixed price, and strictly stronger, as in the example in the image.</a:t>
                </a:r>
                <a:endParaRPr lang="en-IT" sz="1600" dirty="0"/>
              </a:p>
            </p:txBody>
          </p:sp>
        </p:grpSp>
        <p:pic>
          <p:nvPicPr>
            <p:cNvPr id="8" name="Picture 7" descr="A graph with a red dot and blue dots&#10;&#10;AI-generated content may be incorrect.">
              <a:extLst>
                <a:ext uri="{FF2B5EF4-FFF2-40B4-BE49-F238E27FC236}">
                  <a16:creationId xmlns:a16="http://schemas.microsoft.com/office/drawing/2014/main" id="{C3FC1C82-CB94-4C45-B056-782C8F173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8641" y="2976804"/>
              <a:ext cx="3666051" cy="2794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13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AE8E-B3D5-2B52-4BAB-0D21F3E1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B6294F-6977-5970-95B1-707C183F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7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B8DEA2-07BC-31BF-92AF-6BD655BB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theoretical work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71005B-7B45-412D-786F-8F0DB770082C}"/>
              </a:ext>
            </a:extLst>
          </p:cNvPr>
          <p:cNvGrpSpPr/>
          <p:nvPr/>
        </p:nvGrpSpPr>
        <p:grpSpPr>
          <a:xfrm>
            <a:off x="494668" y="1327891"/>
            <a:ext cx="5995342" cy="4403581"/>
            <a:chOff x="105355" y="1294438"/>
            <a:chExt cx="6192644" cy="44035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62E102-D161-911F-3FE1-678576070230}"/>
                </a:ext>
              </a:extLst>
            </p:cNvPr>
            <p:cNvSpPr txBox="1"/>
            <p:nvPr/>
          </p:nvSpPr>
          <p:spPr>
            <a:xfrm>
              <a:off x="105355" y="1294438"/>
              <a:ext cx="61926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4000" b="1" i="1" dirty="0">
                  <a:solidFill>
                    <a:srgbClr val="213552"/>
                  </a:solidFill>
                  <a:latin typeface="+mj-lt"/>
                </a:rPr>
                <a:t>Stochastic Environment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3EABD0F-B511-63F8-ECC6-07D5FF8D5C44}"/>
                    </a:ext>
                  </a:extLst>
                </p:cNvPr>
                <p:cNvSpPr txBox="1"/>
                <p:nvPr/>
              </p:nvSpPr>
              <p:spPr>
                <a:xfrm>
                  <a:off x="559767" y="2236613"/>
                  <a:ext cx="5283819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 stochastic environment consists of a sequence of 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GB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a14:m>
                  <a:r>
                    <a:rPr lang="en-GB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pairs i.i.d.</a:t>
                  </a:r>
                  <a14:m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drawn from an unknown joint distribution over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[0,1]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it-IT" b="0" i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3EABD0F-B511-63F8-ECC6-07D5FF8D5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67" y="2236613"/>
                  <a:ext cx="5283819" cy="923330"/>
                </a:xfrm>
                <a:prstGeom prst="rect">
                  <a:avLst/>
                </a:prstGeom>
                <a:blipFill>
                  <a:blip r:embed="rId2"/>
                  <a:stretch>
                    <a:fillRect l="-743" t="-2703" b="-9459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9A05820-2238-DA1D-73CA-27F11EF6F4AA}"/>
                </a:ext>
              </a:extLst>
            </p:cNvPr>
            <p:cNvGrpSpPr/>
            <p:nvPr/>
          </p:nvGrpSpPr>
          <p:grpSpPr>
            <a:xfrm>
              <a:off x="691375" y="3479576"/>
              <a:ext cx="5152211" cy="2218443"/>
              <a:chOff x="814040" y="3490873"/>
              <a:chExt cx="5152211" cy="2218443"/>
            </a:xfrm>
          </p:grpSpPr>
          <p:pic>
            <p:nvPicPr>
              <p:cNvPr id="18" name="Picture 17" descr="A diagram of a point&#10;&#10;AI-generated content may be incorrect.">
                <a:extLst>
                  <a:ext uri="{FF2B5EF4-FFF2-40B4-BE49-F238E27FC236}">
                    <a16:creationId xmlns:a16="http://schemas.microsoft.com/office/drawing/2014/main" id="{FDAFC1C4-259C-2ABB-564B-C0BE4A7A5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040" y="3490873"/>
                <a:ext cx="2822239" cy="2218443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8E85B-3E75-7FDC-B369-3B08A75E3BF1}"/>
                  </a:ext>
                </a:extLst>
              </p:cNvPr>
              <p:cNvSpPr txBox="1"/>
              <p:nvPr/>
            </p:nvSpPr>
            <p:spPr>
              <a:xfrm>
                <a:off x="3835175" y="3660786"/>
                <a:ext cx="2131076" cy="1615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1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requiring independence between variables S and B</a:t>
                </a:r>
              </a:p>
              <a:p>
                <a:endParaRPr lang="en-GB" sz="11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11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any parametric structure such as gaussian</a:t>
                </a:r>
              </a:p>
              <a:p>
                <a:endParaRPr lang="en-GB" sz="11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1100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Allowing for either continuous or discrete support in general</a:t>
                </a:r>
              </a:p>
              <a:p>
                <a:endParaRPr lang="en-GB" sz="11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D824B6-4DA4-5C3B-F324-C81EA09A7653}"/>
                </a:ext>
              </a:extLst>
            </p:cNvPr>
            <p:cNvSpPr/>
            <p:nvPr/>
          </p:nvSpPr>
          <p:spPr>
            <a:xfrm>
              <a:off x="1187837" y="4156281"/>
              <a:ext cx="507149" cy="419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2EA68F7-F661-67C0-33A4-DE7FC989783E}"/>
              </a:ext>
            </a:extLst>
          </p:cNvPr>
          <p:cNvGrpSpPr/>
          <p:nvPr/>
        </p:nvGrpSpPr>
        <p:grpSpPr>
          <a:xfrm>
            <a:off x="6706232" y="1767187"/>
            <a:ext cx="4991100" cy="3660822"/>
            <a:chOff x="6706232" y="1985306"/>
            <a:chExt cx="4991100" cy="366082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EEA298-D1E2-8C2D-71CE-B076C3B8CDE9}"/>
                </a:ext>
              </a:extLst>
            </p:cNvPr>
            <p:cNvGrpSpPr/>
            <p:nvPr/>
          </p:nvGrpSpPr>
          <p:grpSpPr>
            <a:xfrm>
              <a:off x="6850157" y="1985306"/>
              <a:ext cx="4703250" cy="3660822"/>
              <a:chOff x="627407" y="1515051"/>
              <a:chExt cx="5187615" cy="274987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D5E293-61A8-B5B6-8087-6609FD5612A8}"/>
                  </a:ext>
                </a:extLst>
              </p:cNvPr>
              <p:cNvSpPr txBox="1"/>
              <p:nvPr/>
            </p:nvSpPr>
            <p:spPr>
              <a:xfrm>
                <a:off x="627407" y="1515051"/>
                <a:ext cx="518761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4000" b="1" i="1" dirty="0">
                    <a:solidFill>
                      <a:srgbClr val="213552"/>
                    </a:solidFill>
                    <a:latin typeface="+mj-lt"/>
                  </a:rPr>
                  <a:t>Worst-case Analysis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23EB3-A914-0CEF-D23B-708E3B3A0024}"/>
                  </a:ext>
                </a:extLst>
              </p:cNvPr>
              <p:cNvSpPr txBox="1"/>
              <p:nvPr/>
            </p:nvSpPr>
            <p:spPr>
              <a:xfrm>
                <a:off x="807795" y="3064601"/>
                <a:ext cx="482683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i="1" dirty="0">
                    <a:solidFill>
                      <a:srgbClr val="000000"/>
                    </a:solidFill>
                  </a:rPr>
                  <a:t>This study proves that there exist one algorithm providing a sublinear upper bound for regret with respect to the distributional benchmark in a stochastic environment.</a:t>
                </a:r>
                <a:endParaRPr lang="en-IT" dirty="0"/>
              </a:p>
            </p:txBody>
          </p:sp>
        </p:grpSp>
        <p:pic>
          <p:nvPicPr>
            <p:cNvPr id="25" name="Picture 24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D0EE6B9F-4779-B2A9-3FB3-7E6085B74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6232" y="2936411"/>
              <a:ext cx="49911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567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E15F-393C-58BD-45D7-84A52B86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C4D05F-6DDF-8AA0-EBB9-C7BB032A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8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284DA-6EE6-7191-73C0-0AA3D7A7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overview of results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8BEEC6-BAE3-368C-3D95-DB0A04221B27}"/>
              </a:ext>
            </a:extLst>
          </p:cNvPr>
          <p:cNvGrpSpPr/>
          <p:nvPr/>
        </p:nvGrpSpPr>
        <p:grpSpPr>
          <a:xfrm>
            <a:off x="8106863" y="4146924"/>
            <a:ext cx="2368912" cy="1162974"/>
            <a:chOff x="1618841" y="2437318"/>
            <a:chExt cx="2368912" cy="11629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DFF585F-DF20-6260-AB02-2A54B3F4A3BB}"/>
                </a:ext>
              </a:extLst>
            </p:cNvPr>
            <p:cNvSpPr txBox="1"/>
            <p:nvPr/>
          </p:nvSpPr>
          <p:spPr>
            <a:xfrm>
              <a:off x="1618842" y="2437318"/>
              <a:ext cx="23689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2000" i="1" dirty="0">
                  <a:solidFill>
                    <a:srgbClr val="FF0000"/>
                  </a:solidFill>
                </a:rPr>
                <a:t>Hypothesis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D5C637C-164A-83D7-BCBC-C5FA293F22F4}"/>
                    </a:ext>
                  </a:extLst>
                </p:cNvPr>
                <p:cNvSpPr txBox="1"/>
                <p:nvPr/>
              </p:nvSpPr>
              <p:spPr>
                <a:xfrm>
                  <a:off x="1618841" y="3015517"/>
                  <a:ext cx="2368911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600" i="1" dirty="0">
                      <a:solidFill>
                        <a:srgbClr val="FF0000"/>
                      </a:solidFill>
                      <a:effectLst/>
                    </a:rPr>
                    <a:t>Assuming bounded density for </a:t>
                  </a:r>
                  <a14:m>
                    <m:oMath xmlns:m="http://schemas.openxmlformats.org/officeDocument/2006/math">
                      <m:r>
                        <a:rPr lang="en-GB" sz="16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6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6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6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T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D5C637C-164A-83D7-BCBC-C5FA293F2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841" y="3015517"/>
                  <a:ext cx="2368911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4255" b="-10638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8C2877-D6B8-76EB-8B64-FFEFD945C24C}"/>
              </a:ext>
            </a:extLst>
          </p:cNvPr>
          <p:cNvGrpSpPr/>
          <p:nvPr/>
        </p:nvGrpSpPr>
        <p:grpSpPr>
          <a:xfrm>
            <a:off x="684239" y="2543808"/>
            <a:ext cx="5995342" cy="1770384"/>
            <a:chOff x="650785" y="2542694"/>
            <a:chExt cx="5995342" cy="1770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6928E2-673F-AE8E-C70B-99B1E44D118C}"/>
                    </a:ext>
                  </a:extLst>
                </p:cNvPr>
                <p:cNvSpPr txBox="1"/>
                <p:nvPr/>
              </p:nvSpPr>
              <p:spPr>
                <a:xfrm>
                  <a:off x="1170642" y="3559923"/>
                  <a:ext cx="5152929" cy="7531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GB" sz="2000" i="1" dirty="0">
                      <a:solidFill>
                        <a:srgbClr val="000000"/>
                      </a:solidFill>
                      <a:effectLst/>
                      <a:cs typeface="Calibri" panose="020F0502020204030204" pitchFamily="34" charset="0"/>
                    </a:rPr>
                    <a:t>The provided algorithm achieves sublinear regret with rate </a:t>
                  </a:r>
                  <a14:m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it-IT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it-IT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it-IT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it-IT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it-IT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2000" i="1" dirty="0">
                    <a:solidFill>
                      <a:srgbClr val="000000"/>
                    </a:solidFill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6928E2-673F-AE8E-C70B-99B1E44D1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0642" y="3559923"/>
                  <a:ext cx="5152929" cy="753155"/>
                </a:xfrm>
                <a:prstGeom prst="rect">
                  <a:avLst/>
                </a:prstGeom>
                <a:blipFill>
                  <a:blip r:embed="rId3"/>
                  <a:stretch>
                    <a:fillRect t="-21667" b="-78333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E3D351-391A-62CC-4009-A09DED054085}"/>
                </a:ext>
              </a:extLst>
            </p:cNvPr>
            <p:cNvSpPr txBox="1"/>
            <p:nvPr/>
          </p:nvSpPr>
          <p:spPr>
            <a:xfrm>
              <a:off x="650785" y="2542694"/>
              <a:ext cx="599534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4000" b="1" i="1" dirty="0">
                  <a:solidFill>
                    <a:srgbClr val="213552"/>
                  </a:solidFill>
                  <a:latin typeface="+mj-lt"/>
                </a:rPr>
                <a:t>Main result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D25C9C-FA42-8B30-1D85-7AE54DD77059}"/>
              </a:ext>
            </a:extLst>
          </p:cNvPr>
          <p:cNvGrpSpPr/>
          <p:nvPr/>
        </p:nvGrpSpPr>
        <p:grpSpPr>
          <a:xfrm>
            <a:off x="7860893" y="1835274"/>
            <a:ext cx="2860849" cy="1725763"/>
            <a:chOff x="4911539" y="2483649"/>
            <a:chExt cx="2368911" cy="24229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337CF7-B098-D978-C21B-895EFE5C0987}"/>
                </a:ext>
              </a:extLst>
            </p:cNvPr>
            <p:cNvSpPr txBox="1"/>
            <p:nvPr/>
          </p:nvSpPr>
          <p:spPr>
            <a:xfrm>
              <a:off x="4911539" y="2483649"/>
              <a:ext cx="2368911" cy="561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2000" i="1" dirty="0">
                  <a:solidFill>
                    <a:srgbClr val="213552"/>
                  </a:solidFill>
                </a:rPr>
                <a:t>Problem setting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73510D-C7AF-C5C9-1348-0E0C77CB810D}"/>
                </a:ext>
              </a:extLst>
            </p:cNvPr>
            <p:cNvSpPr txBox="1"/>
            <p:nvPr/>
          </p:nvSpPr>
          <p:spPr>
            <a:xfrm>
              <a:off x="5094885" y="3242950"/>
              <a:ext cx="2002217" cy="1663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 i="1" dirty="0">
                  <a:solidFill>
                    <a:srgbClr val="000000"/>
                  </a:solidFill>
                  <a:effectLst/>
                </a:rPr>
                <a:t>Stochastic environment</a:t>
              </a:r>
              <a:endParaRPr lang="en-GB" sz="1400" i="1" dirty="0">
                <a:solidFill>
                  <a:srgbClr val="000000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GB" sz="1400" i="1" dirty="0">
                  <a:solidFill>
                    <a:srgbClr val="000000"/>
                  </a:solidFill>
                </a:rPr>
                <a:t>Realistic (one bit) feedback</a:t>
              </a:r>
            </a:p>
            <a:p>
              <a:pPr algn="ctr">
                <a:spcAft>
                  <a:spcPts val="600"/>
                </a:spcAft>
              </a:pPr>
              <a:r>
                <a:rPr lang="en-GB" sz="1400" i="1" dirty="0">
                  <a:solidFill>
                    <a:srgbClr val="000000"/>
                  </a:solidFill>
                </a:rPr>
                <a:t>Global Budget Balance</a:t>
              </a:r>
            </a:p>
            <a:p>
              <a:pPr algn="ctr">
                <a:spcAft>
                  <a:spcPts val="600"/>
                </a:spcAft>
              </a:pPr>
              <a:r>
                <a:rPr lang="en-GB" sz="1400" i="1" dirty="0">
                  <a:solidFill>
                    <a:srgbClr val="000000"/>
                  </a:solidFill>
                </a:rPr>
                <a:t>Distributional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890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8601-A138-25EF-00E8-3055B90E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4F6E2-08B7-475E-553A-31BCC268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9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564858-6227-AE7C-22F0-756F2D4E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Hypothesis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698FA-2896-81A1-00C4-6B4450899217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Bounded Density</a:t>
            </a:r>
          </a:p>
        </p:txBody>
      </p:sp>
      <p:pic>
        <p:nvPicPr>
          <p:cNvPr id="8" name="Picture 7" descr="A comparison of graphs and numbers&#10;&#10;AI-generated content may be incorrect.">
            <a:extLst>
              <a:ext uri="{FF2B5EF4-FFF2-40B4-BE49-F238E27FC236}">
                <a16:creationId xmlns:a16="http://schemas.microsoft.com/office/drawing/2014/main" id="{0C3825EF-1E93-2CB6-6BDF-21CFB5A66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45" y="2453525"/>
            <a:ext cx="5926950" cy="1888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0F23F7-8B2C-4181-8DDB-447B79D26202}"/>
                  </a:ext>
                </a:extLst>
              </p:cNvPr>
              <p:cNvSpPr txBox="1"/>
              <p:nvPr/>
            </p:nvSpPr>
            <p:spPr>
              <a:xfrm>
                <a:off x="1598580" y="4881953"/>
                <a:ext cx="8994830" cy="969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2000" b="1" i="1" dirty="0">
                    <a:solidFill>
                      <a:srgbClr val="213552"/>
                    </a:solidFill>
                  </a:rPr>
                  <a:t>Cesa-Bianchi et. al (2021)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IT" altLang="en-IT" sz="1600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“With realistic feedback there exist needle-in-the-haystack valuation distributions that make prices statistically indistinguishable and force </a:t>
                </a:r>
                <a14:m>
                  <m:oMath xmlns:m="http://schemas.openxmlformats.org/officeDocument/2006/math">
                    <m:r>
                      <a:rPr lang="en-IT" altLang="en-IT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  <m:d>
                      <m:dPr>
                        <m:ctrlPr>
                          <a:rPr lang="it-IT" altLang="en-IT" sz="1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altLang="en-IT" sz="1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it-IT" altLang="en-IT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T" altLang="en-IT" sz="1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regret </a:t>
                </a:r>
                <a:r>
                  <a:rPr lang="en-IT" altLang="en-IT" sz="1600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without an anti-concentration assumption"</a:t>
                </a:r>
                <a:endParaRPr lang="en-IT" altLang="en-IT" sz="16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0F23F7-8B2C-4181-8DDB-447B79D26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580" y="4881953"/>
                <a:ext cx="8994830" cy="969496"/>
              </a:xfrm>
              <a:prstGeom prst="rect">
                <a:avLst/>
              </a:prstGeom>
              <a:blipFill>
                <a:blip r:embed="rId3"/>
                <a:stretch>
                  <a:fillRect t="-3896" b="-649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diagram of a point&#10;&#10;AI-generated content may be incorrect.">
            <a:extLst>
              <a:ext uri="{FF2B5EF4-FFF2-40B4-BE49-F238E27FC236}">
                <a16:creationId xmlns:a16="http://schemas.microsoft.com/office/drawing/2014/main" id="{887E3266-1E18-4543-74A6-C8A51B701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27" y="2484596"/>
            <a:ext cx="2326328" cy="18888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9C16AE-0BF4-FE96-30AB-3E07813352C6}"/>
              </a:ext>
            </a:extLst>
          </p:cNvPr>
          <p:cNvSpPr/>
          <p:nvPr/>
        </p:nvSpPr>
        <p:spPr>
          <a:xfrm rot="1758607">
            <a:off x="8259039" y="3331218"/>
            <a:ext cx="2813539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20CF2-D16D-423C-4A9C-C2E6B67A91BB}"/>
              </a:ext>
            </a:extLst>
          </p:cNvPr>
          <p:cNvSpPr/>
          <p:nvPr/>
        </p:nvSpPr>
        <p:spPr>
          <a:xfrm rot="19813897">
            <a:off x="8264282" y="3321729"/>
            <a:ext cx="2813539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503949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1DA0-6A25-96D4-72F8-9B34652A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5DEB4-793B-ABE2-3478-5B00FBE7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r>
              <a:rPr lang="it-IT" dirty="0"/>
              <a:t>/19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9C310-5147-495F-81CC-5C3EFB705F34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Algorithm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3B2A78-E6EC-1BAB-8EBF-63C5E23B04C7}"/>
              </a:ext>
            </a:extLst>
          </p:cNvPr>
          <p:cNvGrpSpPr/>
          <p:nvPr/>
        </p:nvGrpSpPr>
        <p:grpSpPr>
          <a:xfrm>
            <a:off x="191008" y="2553739"/>
            <a:ext cx="11582208" cy="1356588"/>
            <a:chOff x="191008" y="2553739"/>
            <a:chExt cx="11582208" cy="13565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C3EB89-504B-EFCC-83CB-D897803A4F3F}"/>
                </a:ext>
              </a:extLst>
            </p:cNvPr>
            <p:cNvSpPr txBox="1"/>
            <p:nvPr/>
          </p:nvSpPr>
          <p:spPr>
            <a:xfrm>
              <a:off x="476629" y="2611620"/>
              <a:ext cx="28608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2000" i="1" dirty="0">
                  <a:solidFill>
                    <a:srgbClr val="213552"/>
                  </a:solidFill>
                </a:rPr>
                <a:t>I. Budget Accumulation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8C376C-A3F1-9035-6552-0364359F9D71}"/>
                </a:ext>
              </a:extLst>
            </p:cNvPr>
            <p:cNvSpPr txBox="1"/>
            <p:nvPr/>
          </p:nvSpPr>
          <p:spPr>
            <a:xfrm>
              <a:off x="4665570" y="2611620"/>
              <a:ext cx="28608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2000" i="1" dirty="0">
                  <a:solidFill>
                    <a:srgbClr val="213552"/>
                  </a:solidFill>
                </a:rPr>
                <a:t>II. Pure Exploration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5AD6DE-ECFB-46BD-31D2-95C0FE6E6988}"/>
                </a:ext>
              </a:extLst>
            </p:cNvPr>
            <p:cNvSpPr txBox="1"/>
            <p:nvPr/>
          </p:nvSpPr>
          <p:spPr>
            <a:xfrm>
              <a:off x="8854511" y="2553739"/>
              <a:ext cx="28608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2000" i="1" dirty="0">
                  <a:solidFill>
                    <a:srgbClr val="213552"/>
                  </a:solidFill>
                </a:rPr>
                <a:t>III. Optimization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F4DB5F8-26D0-3A5B-E4D1-B0226B60F80A}"/>
                    </a:ext>
                  </a:extLst>
                </p:cNvPr>
                <p:cNvSpPr txBox="1"/>
                <p:nvPr/>
              </p:nvSpPr>
              <p:spPr>
                <a:xfrm>
                  <a:off x="191008" y="3257819"/>
                  <a:ext cx="343209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800" i="1" dirty="0"/>
                    <a:t>Collect a profit buffer </a:t>
                  </a:r>
                  <a14:m>
                    <m:oMath xmlns:m="http://schemas.openxmlformats.org/officeDocument/2006/math"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l-GR" sz="1800" i="1" dirty="0"/>
                    <a:t> </a:t>
                  </a:r>
                  <a:r>
                    <a:rPr lang="en-GB" sz="1800" i="1" dirty="0"/>
                    <a:t>on a sparse multiplicative grid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sz="18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it-IT" sz="1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GB" sz="1800" i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F4DB5F8-26D0-3A5B-E4D1-B0226B60F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008" y="3257819"/>
                  <a:ext cx="3432090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3846" b="-15385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A7EC3E4-9BDF-0E04-7051-F6ADF2AC805D}"/>
                    </a:ext>
                  </a:extLst>
                </p:cNvPr>
                <p:cNvSpPr txBox="1"/>
                <p:nvPr/>
              </p:nvSpPr>
              <p:spPr>
                <a:xfrm>
                  <a:off x="4025976" y="3257818"/>
                  <a:ext cx="414003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i="1" dirty="0"/>
                    <a:t>E</a:t>
                  </a:r>
                  <a:r>
                    <a:rPr lang="en-GB" sz="1800" i="1" dirty="0"/>
                    <a:t>stimate the non-observable parts of </a:t>
                  </a:r>
                  <a14:m>
                    <m:oMath xmlns:m="http://schemas.openxmlformats.org/officeDocument/2006/math">
                      <m:r>
                        <a:rPr lang="en-GB" sz="1800" i="1" dirty="0" smtClean="0">
                          <a:latin typeface="Cambria Math" panose="02040503050406030204" pitchFamily="18" charset="0"/>
                        </a:rPr>
                        <m:t>𝐺𝐹𝑇</m:t>
                      </m:r>
                    </m:oMath>
                  </a14:m>
                  <a:r>
                    <a:rPr lang="en-GB" sz="1800" i="1" dirty="0"/>
                    <a:t> </a:t>
                  </a:r>
                  <a14:m>
                    <m:oMath xmlns:m="http://schemas.openxmlformats.org/officeDocument/2006/math">
                      <m:r>
                        <a:rPr lang="en-GB" sz="18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8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8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lang="en-GB" sz="1800" i="1" dirty="0"/>
                    <a:t>  and  </a:t>
                  </a:r>
                  <a14:m>
                    <m:oMath xmlns:m="http://schemas.openxmlformats.org/officeDocument/2006/math">
                      <m:r>
                        <a:rPr lang="it-IT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18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8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it-IT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sz="1800" i="1" dirty="0"/>
                    <a:t> on the additive grid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a14:m>
                  <a:r>
                    <a:rPr lang="en-IT" i="1" dirty="0"/>
                    <a:t>.</a:t>
                  </a: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A7EC3E4-9BDF-0E04-7051-F6ADF2AC8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976" y="3257818"/>
                  <a:ext cx="4140035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05" t="-3846" r="-305" b="-15385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C5C58E-01BD-404C-5981-F6AA8AE8E64F}"/>
                    </a:ext>
                  </a:extLst>
                </p:cNvPr>
                <p:cNvSpPr txBox="1"/>
                <p:nvPr/>
              </p:nvSpPr>
              <p:spPr>
                <a:xfrm>
                  <a:off x="8796653" y="3263996"/>
                  <a:ext cx="297656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i="1" dirty="0"/>
                    <a:t>S</a:t>
                  </a:r>
                  <a:r>
                    <a:rPr lang="en-GB" sz="1800" i="1" dirty="0"/>
                    <a:t>olve optimistic </a:t>
                  </a:r>
                  <a:r>
                    <a:rPr lang="en-GB" i="1" dirty="0"/>
                    <a:t>linear programs</a:t>
                  </a:r>
                  <a:r>
                    <a:rPr lang="en-GB" sz="1800" i="1" dirty="0"/>
                    <a:t> 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a14:m>
                  <a:r>
                    <a:rPr lang="en-IT" i="1" dirty="0"/>
                    <a:t>.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C5C58E-01BD-404C-5981-F6AA8AE8E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653" y="3263996"/>
                  <a:ext cx="2976563" cy="646331"/>
                </a:xfrm>
                <a:prstGeom prst="rect">
                  <a:avLst/>
                </a:prstGeom>
                <a:blipFill>
                  <a:blip r:embed="rId4"/>
                  <a:stretch>
                    <a:fillRect t="-3846" b="-15385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E7DBA46-FF6F-50DC-67D6-1D2F3681CB14}"/>
              </a:ext>
            </a:extLst>
          </p:cNvPr>
          <p:cNvSpPr txBox="1"/>
          <p:nvPr/>
        </p:nvSpPr>
        <p:spPr>
          <a:xfrm>
            <a:off x="2302867" y="4714242"/>
            <a:ext cx="7586256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b="1" i="1" dirty="0">
                <a:solidFill>
                  <a:srgbClr val="213552"/>
                </a:solidFill>
              </a:rPr>
              <a:t>Bernasconi et al. (2024)</a:t>
            </a:r>
          </a:p>
          <a:p>
            <a:pPr algn="ctr"/>
            <a:r>
              <a:rPr lang="en-GB" i="1" dirty="0">
                <a:solidFill>
                  <a:srgbClr val="000000"/>
                </a:solidFill>
                <a:effectLst/>
              </a:rPr>
              <a:t>“</a:t>
            </a:r>
            <a:r>
              <a:rPr lang="en-GB" i="1" dirty="0"/>
              <a:t>Global Budget Balance holds by design.”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C4F0FA78-2332-94B2-4A11-A9B3CA78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Three-Phase approach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32464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F1AA-F541-2D35-F8E5-21C8599C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3E258B-F8F4-4747-4565-F01E39A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BC1A10-3436-315C-5C56-53D7D108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Phase I – Budget Accumulation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685EA3A5-0BEE-B93F-759A-C773AB0B3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42" y="2323071"/>
            <a:ext cx="3481995" cy="3358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03BEF1-1352-FAC2-E5F3-4CDA9594A70E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Phase I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A5043E-3873-DE1A-13CD-C61FC87AACB7}"/>
              </a:ext>
            </a:extLst>
          </p:cNvPr>
          <p:cNvGrpSpPr/>
          <p:nvPr/>
        </p:nvGrpSpPr>
        <p:grpSpPr>
          <a:xfrm>
            <a:off x="594362" y="2320244"/>
            <a:ext cx="7095975" cy="3200012"/>
            <a:chOff x="594362" y="2413337"/>
            <a:chExt cx="7095975" cy="32000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">
                  <a:extLst>
                    <a:ext uri="{FF2B5EF4-FFF2-40B4-BE49-F238E27FC236}">
                      <a16:creationId xmlns:a16="http://schemas.microsoft.com/office/drawing/2014/main" id="{740AC7FE-3886-574D-643A-20BF0AA6FE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4362" y="2413337"/>
                  <a:ext cx="7095975" cy="2031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Budget </a:t>
                  </a:r>
                  <a14:m>
                    <m:oMath xmlns:m="http://schemas.openxmlformats.org/officeDocument/2006/math">
                      <m:r>
                        <a:rPr lang="en-IT" altLang="en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is accumulated by optimizing </a:t>
                  </a:r>
                  <a14:m>
                    <m:oMath xmlns:m="http://schemas.openxmlformats.org/officeDocument/2006/math">
                      <m:r>
                        <a:rPr lang="en-IT" altLang="en-IT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𝑃𝑟𝑜𝑓𝑖𝑡</m:t>
                      </m:r>
                    </m:oMath>
                  </a14:m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on the grid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a14:m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  <a:endParaRPr kumimoji="0" lang="en-IT" altLang="en-IT" sz="1800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lang="en-IT" altLang="en-IT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lvl="0"/>
                  <a:r>
                    <a:rPr kumimoji="0" lang="en-IT" altLang="en-IT" sz="1800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The multiplicative grid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a14:m>
                  <a:r>
                    <a:rPr kumimoji="0" lang="en-IT" altLang="en-IT" sz="1800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is designed to concentrate actions </a:t>
                  </a:r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 proximity of the diagonal, where most trades happen.</a:t>
                  </a:r>
                  <a:endParaRPr kumimoji="0" lang="en-IT" altLang="en-IT" sz="1800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lvl="0"/>
                  <a:endParaRPr lang="en-IT" altLang="en-IT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lvl="0"/>
                  <a:endParaRPr lang="en-IT" altLang="en-IT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The regret associated to Phase I can be therefore bounded as</a:t>
                  </a:r>
                </a:p>
              </p:txBody>
            </p:sp>
          </mc:Choice>
          <mc:Fallback xmlns="">
            <p:sp>
              <p:nvSpPr>
                <p:cNvPr id="10" name="Rectangle 1">
                  <a:extLst>
                    <a:ext uri="{FF2B5EF4-FFF2-40B4-BE49-F238E27FC236}">
                      <a16:creationId xmlns:a16="http://schemas.microsoft.com/office/drawing/2014/main" id="{740AC7FE-3886-574D-643A-20BF0AA6F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4362" y="2413337"/>
                  <a:ext cx="7095975" cy="2031325"/>
                </a:xfrm>
                <a:prstGeom prst="rect">
                  <a:avLst/>
                </a:prstGeom>
                <a:blipFill>
                  <a:blip r:embed="rId3"/>
                  <a:stretch>
                    <a:fillRect l="-894" t="-621" b="-434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 descr="A black text with a white background&#10;&#10;AI-generated content may be incorrect.">
              <a:extLst>
                <a:ext uri="{FF2B5EF4-FFF2-40B4-BE49-F238E27FC236}">
                  <a16:creationId xmlns:a16="http://schemas.microsoft.com/office/drawing/2014/main" id="{97F0654B-D19F-EA22-C0CE-BE86C6D46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97"/>
            <a:stretch>
              <a:fillRect/>
            </a:stretch>
          </p:blipFill>
          <p:spPr>
            <a:xfrm>
              <a:off x="2952631" y="4516045"/>
              <a:ext cx="2163725" cy="7712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21EFA3E-A2A2-31C2-B2AB-43D78E3DA198}"/>
                    </a:ext>
                  </a:extLst>
                </p:cNvPr>
                <p:cNvSpPr txBox="1"/>
                <p:nvPr/>
              </p:nvSpPr>
              <p:spPr>
                <a:xfrm>
                  <a:off x="594363" y="5251583"/>
                  <a:ext cx="4295525" cy="3617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GB" altLang="en-IT" sz="1600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w</a:t>
                  </a:r>
                  <a:r>
                    <a:rPr lang="en-IT" altLang="en-IT" sz="1600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here the middle term would otherwise be K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T" altLang="en-IT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it-IT" altLang="en-IT" sz="1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rad>
                    </m:oMath>
                  </a14:m>
                  <a:r>
                    <a:rPr lang="en-IT" altLang="en-IT" sz="1600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21EFA3E-A2A2-31C2-B2AB-43D78E3DA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3" y="5251583"/>
                  <a:ext cx="4295525" cy="361766"/>
                </a:xfrm>
                <a:prstGeom prst="rect">
                  <a:avLst/>
                </a:prstGeom>
                <a:blipFill>
                  <a:blip r:embed="rId5"/>
                  <a:stretch>
                    <a:fillRect l="-888" b="-20690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4F4587-34C6-24DB-AABF-F15E353E9E51}"/>
                  </a:ext>
                </a:extLst>
              </p:cNvPr>
              <p:cNvSpPr txBox="1"/>
              <p:nvPr/>
            </p:nvSpPr>
            <p:spPr>
              <a:xfrm>
                <a:off x="8453847" y="1943702"/>
                <a:ext cx="28055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2000" b="1" i="1" dirty="0">
                    <a:solidFill>
                      <a:srgbClr val="213552"/>
                    </a:solidFill>
                  </a:rPr>
                  <a:t>Multiplicative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dirty="0" smtClean="0">
                            <a:solidFill>
                              <a:srgbClr val="21355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dirty="0" smtClean="0">
                            <a:solidFill>
                              <a:srgbClr val="21355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it-IT" sz="2000" b="1" i="1" dirty="0" smtClean="0">
                            <a:solidFill>
                              <a:srgbClr val="213552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en-GB" sz="2000" b="1" i="1" dirty="0">
                    <a:solidFill>
                      <a:srgbClr val="21355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4F4587-34C6-24DB-AABF-F15E353E9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847" y="1943702"/>
                <a:ext cx="2805584" cy="400110"/>
              </a:xfrm>
              <a:prstGeom prst="rect">
                <a:avLst/>
              </a:prstGeom>
              <a:blipFill>
                <a:blip r:embed="rId6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58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3934-2D4D-8FC3-6F47-2CE9A5CC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3543A-0B9B-4745-3C04-EF53A8EE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12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0D3FA-54CB-F050-D432-1FFBB4D7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Phase II – Pure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13DF2-B188-DA34-9EE0-A36624EE7848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Phase II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7183E1-BEB7-902B-FD30-482C4050530A}"/>
              </a:ext>
            </a:extLst>
          </p:cNvPr>
          <p:cNvGrpSpPr/>
          <p:nvPr/>
        </p:nvGrpSpPr>
        <p:grpSpPr>
          <a:xfrm>
            <a:off x="507700" y="2346821"/>
            <a:ext cx="7291537" cy="3306153"/>
            <a:chOff x="315370" y="2347084"/>
            <a:chExt cx="7163601" cy="330589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1">
                  <a:extLst>
                    <a:ext uri="{FF2B5EF4-FFF2-40B4-BE49-F238E27FC236}">
                      <a16:creationId xmlns:a16="http://schemas.microsoft.com/office/drawing/2014/main" id="{497D97B0-B67F-7809-A69E-20D1F0220A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15372" y="2347084"/>
                  <a:ext cx="6631338" cy="923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IT" altLang="en-IT" sz="1800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With realistic feedback  </a:t>
                  </a:r>
                  <a14:m>
                    <m:oMath xmlns:m="http://schemas.openxmlformats.org/officeDocument/2006/math"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𝐺𝐹𝑇</m:t>
                      </m:r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𝑞</m:t>
                      </m:r>
                      <m:r>
                        <a:rPr kumimoji="0" lang="en-IT" altLang="en-IT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) </m:t>
                      </m:r>
                    </m:oMath>
                  </a14:m>
                  <a:r>
                    <a:rPr kumimoji="0" lang="en-IT" altLang="en-IT" sz="1800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is never directly observed.</a:t>
                  </a:r>
                  <a:r>
                    <a:rPr kumimoji="0" lang="en-IT" altLang="en-IT" sz="1800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Fortunately, expected </a:t>
                  </a:r>
                  <a14:m>
                    <m:oMath xmlns:m="http://schemas.openxmlformats.org/officeDocument/2006/math">
                      <m:r>
                        <a:rPr lang="en-IT" altLang="en-IT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𝐺𝐹𝑇</m:t>
                      </m:r>
                    </m:oMath>
                  </a14:m>
                  <a:r>
                    <a:rPr lang="en-IT" altLang="en-IT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can be decomposed as the sum of  p</a:t>
                  </a:r>
                  <a14:m>
                    <m:oMath xmlns:m="http://schemas.openxmlformats.org/officeDocument/2006/math">
                      <m:r>
                        <a:rPr lang="it-IT" altLang="en-IT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it-IT" altLang="en-IT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𝑠</m:t>
                      </m:r>
                    </m:oMath>
                  </a14:m>
                  <a:r>
                    <a:rPr lang="en-GB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  </a:t>
                  </a:r>
                  <a14:m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lang="en-IT" altLang="en-IT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and  </a:t>
                  </a:r>
                  <a14:m>
                    <m:oMath xmlns:m="http://schemas.openxmlformats.org/officeDocument/2006/math">
                      <m:r>
                        <a:rPr lang="en-IT" altLang="en-IT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T" altLang="en-IT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T" altLang="en-IT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IT" altLang="en-IT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</a:p>
              </p:txBody>
            </p:sp>
          </mc:Choice>
          <mc:Fallback>
            <p:sp>
              <p:nvSpPr>
                <p:cNvPr id="8" name="Rectangle 1">
                  <a:extLst>
                    <a:ext uri="{FF2B5EF4-FFF2-40B4-BE49-F238E27FC236}">
                      <a16:creationId xmlns:a16="http://schemas.microsoft.com/office/drawing/2014/main" id="{497D97B0-B67F-7809-A69E-20D1F0220A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rot="10800000" flipV="1">
                  <a:off x="315372" y="2347084"/>
                  <a:ext cx="6631338" cy="923258"/>
                </a:xfrm>
                <a:prstGeom prst="rect">
                  <a:avLst/>
                </a:prstGeom>
                <a:blipFill>
                  <a:blip r:embed="rId2"/>
                  <a:stretch>
                    <a:fillRect l="-563" t="-2703" b="-945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FDF48C-BAAA-ED03-7319-3679B8FD0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071" y="3465642"/>
              <a:ext cx="4394200" cy="355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68B5D636-0208-4169-3738-E1F76F48A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370" y="4108370"/>
                  <a:ext cx="7163601" cy="6463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IT" altLang="en-IT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Since for each </a:t>
                  </a:r>
                  <a14:m>
                    <m:oMath xmlns:m="http://schemas.openxmlformats.org/officeDocument/2006/math">
                      <m:r>
                        <a:rPr kumimoji="0" lang="en-IT" altLang="en-IT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kumimoji="0" lang="en-IT" altLang="en-IT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kumimoji="0" lang="en-IT" altLang="en-IT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kumimoji="0" lang="en-IT" altLang="en-IT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the</a:t>
                  </a:r>
                  <a:r>
                    <a:rPr kumimoji="0" lang="en-IT" altLang="en-IT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probes can be shared among every </a:t>
                  </a:r>
                  <a14:m>
                    <m:oMath xmlns:m="http://schemas.openxmlformats.org/officeDocument/2006/math">
                      <m:r>
                        <a:rPr kumimoji="0" lang="en-IT" altLang="en-IT" b="0" i="1" u="none" strike="noStrike" cap="none" normalizeH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kumimoji="0" lang="en-IT" altLang="en-IT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kumimoji="0" lang="en-IT" altLang="en-IT" b="0" i="1" u="none" strike="noStrike" cap="none" normalizeH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kumimoji="0" lang="en-IT" altLang="en-IT" b="0" i="1" u="none" strike="noStrike" cap="none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rPr>
                    <a:t> respectively, the regret associated to Phase II can be therefore bounded as</a:t>
                  </a:r>
                  <a:endParaRPr kumimoji="0" lang="en-IT" altLang="en-IT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4">
                  <a:extLst>
                    <a:ext uri="{FF2B5EF4-FFF2-40B4-BE49-F238E27FC236}">
                      <a16:creationId xmlns:a16="http://schemas.microsoft.com/office/drawing/2014/main" id="{68B5D636-0208-4169-3738-E1F76F48A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370" y="4108370"/>
                  <a:ext cx="7163601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522" t="-3846" b="-1346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Picture 17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9A2A4CEB-2B3F-820B-14BF-71DDF3374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36" t="22222"/>
            <a:stretch>
              <a:fillRect/>
            </a:stretch>
          </p:blipFill>
          <p:spPr>
            <a:xfrm>
              <a:off x="3183337" y="4901812"/>
              <a:ext cx="895408" cy="35954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DE3E4D9-AD83-323E-71F6-60156A45CE36}"/>
                    </a:ext>
                  </a:extLst>
                </p:cNvPr>
                <p:cNvSpPr txBox="1"/>
                <p:nvPr/>
              </p:nvSpPr>
              <p:spPr>
                <a:xfrm>
                  <a:off x="315370" y="5314427"/>
                  <a:ext cx="611419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it-IT" altLang="en-IT" sz="1600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which would otherwise be </a:t>
                  </a:r>
                  <a14:m>
                    <m:oMath xmlns:m="http://schemas.openxmlformats.org/officeDocument/2006/math">
                      <m:r>
                        <a:rPr lang="it-IT" altLang="en-IT" sz="1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sSup>
                        <m:sSupPr>
                          <m:ctrlPr>
                            <a:rPr lang="it-IT" altLang="en-IT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it-IT" altLang="en-IT" sz="1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p>
                          <m:r>
                            <a:rPr lang="it-IT" altLang="en-IT" sz="1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T" altLang="en-IT" sz="1600" i="1" dirty="0">
                      <a:solidFill>
                        <a:srgbClr val="0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DE3E4D9-AD83-323E-71F6-60156A45C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370" y="5314427"/>
                  <a:ext cx="6114196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407" t="-3704" b="-22222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CA169-991E-2C17-DFB4-EF792B46654F}"/>
                  </a:ext>
                </a:extLst>
              </p:cNvPr>
              <p:cNvSpPr txBox="1"/>
              <p:nvPr/>
            </p:nvSpPr>
            <p:spPr>
              <a:xfrm>
                <a:off x="8453847" y="1946675"/>
                <a:ext cx="28055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it-IT" sz="2000" b="1" i="1" dirty="0">
                    <a:solidFill>
                      <a:srgbClr val="213552"/>
                    </a:solidFill>
                  </a:rPr>
                  <a:t>Probing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21355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dirty="0" smtClean="0">
                        <a:solidFill>
                          <a:srgbClr val="213552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sz="2000" b="1" i="1" dirty="0" smtClean="0">
                        <a:solidFill>
                          <a:srgbClr val="21355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000" b="1" i="1" dirty="0" smtClean="0">
                        <a:solidFill>
                          <a:srgbClr val="213552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it-IT" sz="2000" b="1" i="1" dirty="0" smtClean="0">
                        <a:solidFill>
                          <a:srgbClr val="21355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i="1" dirty="0">
                  <a:solidFill>
                    <a:srgbClr val="21355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FCA169-991E-2C17-DFB4-EF792B466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847" y="1946675"/>
                <a:ext cx="2805584" cy="400110"/>
              </a:xfrm>
              <a:prstGeom prst="rect">
                <a:avLst/>
              </a:prstGeom>
              <a:blipFill>
                <a:blip r:embed="rId7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graph with a dotted line&#10;&#10;AI-generated content may be incorrect.">
            <a:extLst>
              <a:ext uri="{FF2B5EF4-FFF2-40B4-BE49-F238E27FC236}">
                <a16:creationId xmlns:a16="http://schemas.microsoft.com/office/drawing/2014/main" id="{6B40FA69-ABAC-B226-26F0-B3117DC4EE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543" y="2346785"/>
            <a:ext cx="3460192" cy="336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8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1674-961C-5D5B-1D42-FA6DCE4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DA614-7BC7-A0DE-3D75-5037D7BF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13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DCEA14-D35A-3AA8-7385-A353A806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Phase III –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7763A188-78E4-FB94-52FA-3F3F77DE1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723" y="2385434"/>
                <a:ext cx="5346861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/>
                <a:r>
                  <a:rPr kumimoji="0" lang="en-IT" altLang="en-IT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At</a:t>
                </a:r>
                <a:r>
                  <a:rPr kumimoji="0" lang="en-IT" altLang="en-IT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each round </a:t>
                </a:r>
                <a14:m>
                  <m:oMath xmlns:m="http://schemas.openxmlformats.org/officeDocument/2006/math">
                    <m:r>
                      <a:rPr kumimoji="0" lang="en-IT" altLang="en-IT" b="0" i="1" u="none" strike="noStrike" cap="none" normalizeH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r>
                  <a:rPr kumimoji="0" lang="en-IT" altLang="en-IT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, a linear program based</a:t>
                </a:r>
                <a:r>
                  <a:rPr kumimoji="0" lang="en-IT" altLang="en-IT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on</a:t>
                </a:r>
                <a:r>
                  <a:rPr kumimoji="0" lang="en-IT" altLang="en-IT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optimistic estimators</a:t>
                </a:r>
                <a:r>
                  <a:rPr kumimoji="0" lang="en-IT" altLang="en-IT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𝐺𝐹𝑇</m:t>
                    </m:r>
                  </m:oMath>
                </a14:m>
                <a:r>
                  <a:rPr kumimoji="0" lang="en-IT" altLang="en-IT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𝑃𝑟𝑜𝑓𝑖𝑡</m:t>
                    </m:r>
                  </m:oMath>
                </a14:m>
                <a:r>
                  <a:rPr kumimoji="0" lang="en-IT" altLang="en-IT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provides</a:t>
                </a:r>
                <a:r>
                  <a:rPr kumimoji="0" lang="en-IT" altLang="en-IT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the pair to be played.</a:t>
                </a:r>
                <a:endParaRPr lang="en-IT" altLang="en-IT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7763A188-78E4-FB94-52FA-3F3F77DE1F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723" y="2385434"/>
                <a:ext cx="5346861" cy="923330"/>
              </a:xfrm>
              <a:prstGeom prst="rect">
                <a:avLst/>
              </a:prstGeom>
              <a:blipFill>
                <a:blip r:embed="rId2"/>
                <a:stretch>
                  <a:fillRect l="-948" t="-1351" b="-94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9B448BA-F55F-E031-4557-010578FD2917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Phase III</a:t>
            </a:r>
          </a:p>
        </p:txBody>
      </p:sp>
      <p:pic>
        <p:nvPicPr>
          <p:cNvPr id="16" name="Picture 1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B02A51-ADCB-AF1A-0C10-9828F4132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057" y="3659666"/>
            <a:ext cx="6305054" cy="1279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D57268-6472-04DB-FEA8-A1A2A8824967}"/>
              </a:ext>
            </a:extLst>
          </p:cNvPr>
          <p:cNvGrpSpPr/>
          <p:nvPr/>
        </p:nvGrpSpPr>
        <p:grpSpPr>
          <a:xfrm>
            <a:off x="468724" y="5134131"/>
            <a:ext cx="10833260" cy="699106"/>
            <a:chOff x="468724" y="3631264"/>
            <a:chExt cx="10833260" cy="6991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9918CE-52B0-D69C-13A9-949EDF80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94" b="-3614"/>
            <a:stretch>
              <a:fillRect/>
            </a:stretch>
          </p:blipFill>
          <p:spPr>
            <a:xfrm>
              <a:off x="8827008" y="3631264"/>
              <a:ext cx="2237212" cy="6991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437453-A8E1-F6E3-E35E-5FE7FA0ADFBB}"/>
                </a:ext>
              </a:extLst>
            </p:cNvPr>
            <p:cNvSpPr txBox="1"/>
            <p:nvPr/>
          </p:nvSpPr>
          <p:spPr>
            <a:xfrm>
              <a:off x="468724" y="3787156"/>
              <a:ext cx="108332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i="1" dirty="0">
                  <a:latin typeface="Calibri" panose="020F0502020204030204" pitchFamily="34" charset="0"/>
                  <a:cs typeface="Calibri" panose="020F0502020204030204" pitchFamily="34" charset="0"/>
                </a:rPr>
                <a:t>Enabled </a:t>
              </a:r>
              <a:r>
                <a:rPr lang="en-GB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Phase I and II, </a:t>
              </a:r>
              <a:r>
                <a:rPr lang="en-IT" altLang="en-IT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Phase III achieves an associated regret that can be bounded as                                             . </a:t>
              </a:r>
              <a:endParaRPr lang="en-IT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0929C-81C7-F6CE-143B-50FA7EE700D2}"/>
                  </a:ext>
                </a:extLst>
              </p:cNvPr>
              <p:cNvSpPr txBox="1"/>
              <p:nvPr/>
            </p:nvSpPr>
            <p:spPr>
              <a:xfrm>
                <a:off x="5815585" y="2385434"/>
                <a:ext cx="590769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r"/>
                <a:r>
                  <a:rPr lang="en-GB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particular, the optimism on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𝑃𝑟𝑜𝑓𝑖𝑡</m:t>
                    </m:r>
                  </m:oMath>
                </a14:m>
                <a:r>
                  <a:rPr lang="en-GB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combined with the additional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𝑃𝑟𝑜𝑓𝑖𝑡</m:t>
                    </m:r>
                  </m:oMath>
                </a14:m>
                <a:r>
                  <a:rPr lang="en-GB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slack term – is needed to ensure </a:t>
                </a:r>
                <a:r>
                  <a:rPr lang="en-GB" sz="1400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that the benchmark on the grid is feasible for the linear program and that it dominates the projection of the continuous benchmark onto the grid.</a:t>
                </a:r>
                <a:endParaRPr lang="en-GB" sz="1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0929C-81C7-F6CE-143B-50FA7EE70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585" y="2385434"/>
                <a:ext cx="5907692" cy="954107"/>
              </a:xfrm>
              <a:prstGeom prst="rect">
                <a:avLst/>
              </a:prstGeom>
              <a:blipFill>
                <a:blip r:embed="rId5"/>
                <a:stretch>
                  <a:fillRect t="-1299" r="-857" b="-649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772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6B2A-5565-BA61-36D8-3415DCB8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844930-C8BD-C85A-2FF7-EE11158F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14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EFC7EB-6C66-8913-8B2B-BA07B612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Back to continuous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692667-9CF7-D93D-7531-AEB3E479F764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Discretization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759FF7-6CFC-0C58-26A3-DF66D499C716}"/>
              </a:ext>
            </a:extLst>
          </p:cNvPr>
          <p:cNvGrpSpPr/>
          <p:nvPr/>
        </p:nvGrpSpPr>
        <p:grpSpPr>
          <a:xfrm>
            <a:off x="615146" y="2569570"/>
            <a:ext cx="8750903" cy="3062203"/>
            <a:chOff x="639530" y="2384402"/>
            <a:chExt cx="8750903" cy="306220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225A30A-5C4F-25D2-8FCD-4866589244AE}"/>
                </a:ext>
              </a:extLst>
            </p:cNvPr>
            <p:cNvGrpSpPr/>
            <p:nvPr/>
          </p:nvGrpSpPr>
          <p:grpSpPr>
            <a:xfrm>
              <a:off x="639530" y="2384402"/>
              <a:ext cx="8382075" cy="3035966"/>
              <a:chOff x="650565" y="1959741"/>
              <a:chExt cx="12009199" cy="30359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2">
                    <a:extLst>
                      <a:ext uri="{FF2B5EF4-FFF2-40B4-BE49-F238E27FC236}">
                        <a16:creationId xmlns:a16="http://schemas.microsoft.com/office/drawing/2014/main" id="{3C94ED11-C631-E6E4-AD83-5348C990EE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0565" y="1959741"/>
                    <a:ext cx="7549662" cy="230832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The linear program defined for Phase III is run on the additive grid 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0" lang="en-IT" altLang="en-IT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it-IT" altLang="en-IT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it-IT" altLang="en-IT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a14:m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​</a:t>
                    </a:r>
                    <a:r>
                      <a:rPr lang="en-IT" altLang="en-IT" i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.</a:t>
                    </a: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IT" altLang="en-IT" sz="1800" b="0" i="1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pPr lvl="0"/>
                    <a:r>
                      <a:rPr lang="en-IT" altLang="en-IT" i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U</a:t>
                    </a:r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sing bounded density to guarantee Lipschitz </a:t>
                    </a:r>
                    <a14:m>
                      <m:oMath xmlns:m="http://schemas.openxmlformats.org/officeDocument/2006/math">
                        <m:r>
                          <a:rPr kumimoji="0" lang="en-IT" altLang="en-IT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𝐺𝐹𝑇</m:t>
                        </m:r>
                      </m:oMath>
                    </a14:m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and </a:t>
                    </a:r>
                    <a14:m>
                      <m:oMath xmlns:m="http://schemas.openxmlformats.org/officeDocument/2006/math">
                        <m:r>
                          <a:rPr kumimoji="0" lang="en-IT" altLang="en-IT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𝑃𝑟𝑜𝑓𝑖𝑡</m:t>
                        </m:r>
                      </m:oMath>
                    </a14:m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, the benchmark on the grid</a:t>
                    </a:r>
                    <a:r>
                      <a:rPr kumimoji="0" lang="en-IT" altLang="en-IT" sz="1800" b="0" i="1" u="none" strike="noStrike" cap="none" normalizeH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– which is not weaker than the </a:t>
                    </a:r>
                    <a:r>
                      <a:rPr lang="en-GB" i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projection of the continuous benchmark onto the grid – l</a:t>
                    </a:r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oses at most O(σ/K) of </a:t>
                    </a:r>
                    <a14:m>
                      <m:oMath xmlns:m="http://schemas.openxmlformats.org/officeDocument/2006/math">
                        <m:r>
                          <a:rPr lang="en-IT" altLang="en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𝐺𝐹𝑇</m:t>
                        </m:r>
                      </m:oMath>
                    </a14:m>
                    <a:r>
                      <a:rPr kumimoji="0" lang="en-IT" altLang="en-IT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compared</a:t>
                    </a:r>
                    <a:r>
                      <a:rPr kumimoji="0" lang="en-IT" altLang="en-IT" sz="1800" b="0" i="1" u="none" strike="noStrike" cap="none" normalizeH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to the continuous benchmark.</a:t>
                    </a:r>
                  </a:p>
                </p:txBody>
              </p:sp>
            </mc:Choice>
            <mc:Fallback xmlns="">
              <p:sp>
                <p:nvSpPr>
                  <p:cNvPr id="6" name="Rectangle 2">
                    <a:extLst>
                      <a:ext uri="{FF2B5EF4-FFF2-40B4-BE49-F238E27FC236}">
                        <a16:creationId xmlns:a16="http://schemas.microsoft.com/office/drawing/2014/main" id="{3C94ED11-C631-E6E4-AD83-5348C990EE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50565" y="1959741"/>
                    <a:ext cx="7549662" cy="230832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962" t="-549" b="-4396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2" name="Picture 11" descr="A black text with a white background&#10;&#10;AI-generated content may be incorrect.">
                <a:extLst>
                  <a:ext uri="{FF2B5EF4-FFF2-40B4-BE49-F238E27FC236}">
                    <a16:creationId xmlns:a16="http://schemas.microsoft.com/office/drawing/2014/main" id="{86F1C770-B70D-5532-85B8-E664EF6A52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03525" y="4678783"/>
                <a:ext cx="1756239" cy="316924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26F90B-3535-FBAC-19D2-D34356A0B782}"/>
                </a:ext>
              </a:extLst>
            </p:cNvPr>
            <p:cNvSpPr txBox="1"/>
            <p:nvPr/>
          </p:nvSpPr>
          <p:spPr>
            <a:xfrm>
              <a:off x="2850324" y="5077273"/>
              <a:ext cx="6540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T" altLang="en-IT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Discretization contributes an</a:t>
              </a:r>
              <a:r>
                <a:rPr kumimoji="0" lang="en-IT" altLang="en-IT" sz="18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additional regret </a:t>
              </a:r>
              <a:r>
                <a:rPr lang="en-IT" altLang="en-IT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term                           .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32490-345B-B6C2-600C-C2481FC5757F}"/>
              </a:ext>
            </a:extLst>
          </p:cNvPr>
          <p:cNvSpPr/>
          <p:nvPr/>
        </p:nvSpPr>
        <p:spPr>
          <a:xfrm>
            <a:off x="9239360" y="3970494"/>
            <a:ext cx="693582" cy="365125"/>
          </a:xfrm>
          <a:prstGeom prst="rect">
            <a:avLst/>
          </a:prstGeom>
          <a:solidFill>
            <a:srgbClr val="FCF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DD9F65-D0FC-D2EB-5AE4-D6434D40F7E6}"/>
              </a:ext>
            </a:extLst>
          </p:cNvPr>
          <p:cNvGrpSpPr/>
          <p:nvPr/>
        </p:nvGrpSpPr>
        <p:grpSpPr>
          <a:xfrm>
            <a:off x="6851429" y="2725308"/>
            <a:ext cx="4523707" cy="1996848"/>
            <a:chOff x="6754018" y="2586238"/>
            <a:chExt cx="4769769" cy="2150104"/>
          </a:xfrm>
        </p:grpSpPr>
        <p:pic>
          <p:nvPicPr>
            <p:cNvPr id="19" name="Picture 18" descr="A diagram of a graph&#10;&#10;AI-generated content may be incorrect.">
              <a:extLst>
                <a:ext uri="{FF2B5EF4-FFF2-40B4-BE49-F238E27FC236}">
                  <a16:creationId xmlns:a16="http://schemas.microsoft.com/office/drawing/2014/main" id="{33D68B67-FA90-5CF1-FDC4-AC2D65E4C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encilSketch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4" t="20174" r="5373" b="20009"/>
            <a:stretch>
              <a:fillRect/>
            </a:stretch>
          </p:blipFill>
          <p:spPr>
            <a:xfrm>
              <a:off x="6754018" y="2586239"/>
              <a:ext cx="4769768" cy="215010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956857-A273-0BDE-086B-5A7F08ACC15A}"/>
                </a:ext>
              </a:extLst>
            </p:cNvPr>
            <p:cNvSpPr/>
            <p:nvPr/>
          </p:nvSpPr>
          <p:spPr>
            <a:xfrm>
              <a:off x="8727034" y="2586238"/>
              <a:ext cx="2735884" cy="398759"/>
            </a:xfrm>
            <a:prstGeom prst="rect">
              <a:avLst/>
            </a:prstGeom>
            <a:solidFill>
              <a:srgbClr val="FCF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3465A4B-59E5-FCCC-0D10-E0F72FD5F889}"/>
                </a:ext>
              </a:extLst>
            </p:cNvPr>
            <p:cNvSpPr/>
            <p:nvPr/>
          </p:nvSpPr>
          <p:spPr>
            <a:xfrm>
              <a:off x="8792870" y="4447190"/>
              <a:ext cx="2670048" cy="289152"/>
            </a:xfrm>
            <a:prstGeom prst="rect">
              <a:avLst/>
            </a:prstGeom>
            <a:solidFill>
              <a:srgbClr val="FCF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D94261-92C4-516D-449B-B87184127E77}"/>
                </a:ext>
              </a:extLst>
            </p:cNvPr>
            <p:cNvSpPr/>
            <p:nvPr/>
          </p:nvSpPr>
          <p:spPr>
            <a:xfrm>
              <a:off x="11317747" y="4264626"/>
              <a:ext cx="206040" cy="365125"/>
            </a:xfrm>
            <a:prstGeom prst="rect">
              <a:avLst/>
            </a:prstGeom>
            <a:solidFill>
              <a:srgbClr val="FCF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</p:spTree>
    <p:extLst>
      <p:ext uri="{BB962C8B-B14F-4D97-AF65-F5344CB8AC3E}">
        <p14:creationId xmlns:p14="http://schemas.microsoft.com/office/powerpoint/2010/main" val="314360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828C-C190-1E20-D893-C41EBD92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8BB6E5-4D58-7872-ECCB-AB093D4C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15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B671FF-3A6E-ECB7-685B-70028F09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253FE-AD45-C989-21B3-3939A415935D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Three feedback models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6C7558-1CA6-0897-9ACB-04DFF65CBA1E}"/>
              </a:ext>
            </a:extLst>
          </p:cNvPr>
          <p:cNvGrpSpPr/>
          <p:nvPr/>
        </p:nvGrpSpPr>
        <p:grpSpPr>
          <a:xfrm>
            <a:off x="8691347" y="2502158"/>
            <a:ext cx="2805584" cy="2911422"/>
            <a:chOff x="8208404" y="2718337"/>
            <a:chExt cx="2805584" cy="29114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6CF5FF-C766-8C83-0479-09FCDF044591}"/>
                    </a:ext>
                  </a:extLst>
                </p:cNvPr>
                <p:cNvSpPr txBox="1"/>
                <p:nvPr/>
              </p:nvSpPr>
              <p:spPr>
                <a:xfrm>
                  <a:off x="8307126" y="3315856"/>
                  <a:ext cx="2608139" cy="23139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600" i="1" dirty="0">
                      <a:cs typeface="Calibri" panose="020F0502020204030204" pitchFamily="34" charset="0"/>
                    </a:rPr>
                    <a:t>Given that under bandit feedback the estimators are only updated for one pair </a:t>
                  </a:r>
                  <a14:m>
                    <m:oMath xmlns:m="http://schemas.openxmlformats.org/officeDocument/2006/math">
                      <m:r>
                        <a:rPr lang="en-GB" sz="16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6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GB" sz="1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 at each round </a:t>
                  </a:r>
                  <a14:m>
                    <m:oMath xmlns:m="http://schemas.openxmlformats.org/officeDocument/2006/math">
                      <m:r>
                        <a:rPr lang="en-GB" sz="16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, it is sufficient to only consider the union bound to </a:t>
                  </a:r>
                  <a14:m>
                    <m:oMath xmlns:m="http://schemas.openxmlformats.org/officeDocument/2006/math">
                      <m:r>
                        <a:rPr lang="it-IT" sz="16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sz="1600" i="1" dirty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 events, instead of all the </a:t>
                  </a:r>
                  <a14:m>
                    <m:oMath xmlns:m="http://schemas.openxmlformats.org/officeDocument/2006/math">
                      <m:r>
                        <a:rPr lang="it-IT" sz="16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sz="16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GB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it-IT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 events associated to the </a:t>
                  </a:r>
                  <a14:m>
                    <m:oMath xmlns:m="http://schemas.openxmlformats.org/officeDocument/2006/math">
                      <m:r>
                        <a:rPr lang="en-GB" sz="1600" i="1" dirty="0">
                          <a:latin typeface="Cambria Math" panose="02040503050406030204" pitchFamily="18" charset="0"/>
                        </a:rPr>
                        <m:t>𝐺𝐹𝑇</m:t>
                      </m:r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GB" sz="1600" i="1" dirty="0">
                          <a:latin typeface="Cambria Math" panose="02040503050406030204" pitchFamily="18" charset="0"/>
                        </a:rPr>
                        <m:t>𝑃𝑟𝑜𝑓𝑖</m:t>
                      </m:r>
                      <m:r>
                        <a:rPr lang="it-IT" sz="1600" i="1" dirty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GB" sz="1600" i="1" dirty="0">
                      <a:cs typeface="Calibri" panose="020F0502020204030204" pitchFamily="34" charset="0"/>
                    </a:rPr>
                    <a:t> estimators.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6CF5FF-C766-8C83-0479-09FCDF044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126" y="3315856"/>
                  <a:ext cx="2608139" cy="2313903"/>
                </a:xfrm>
                <a:prstGeom prst="rect">
                  <a:avLst/>
                </a:prstGeom>
                <a:blipFill>
                  <a:blip r:embed="rId2"/>
                  <a:stretch>
                    <a:fillRect l="-971" t="-543" r="-2913" b="-2174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0EB9D-A976-BC9B-6C54-58B4DF8A2406}"/>
                </a:ext>
              </a:extLst>
            </p:cNvPr>
            <p:cNvSpPr txBox="1"/>
            <p:nvPr/>
          </p:nvSpPr>
          <p:spPr>
            <a:xfrm>
              <a:off x="8208404" y="2718337"/>
              <a:ext cx="280558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it-IT" sz="2000" b="1" i="1" dirty="0">
                  <a:solidFill>
                    <a:srgbClr val="213552"/>
                  </a:solidFill>
                </a:rPr>
                <a:t>Technical refinement</a:t>
              </a:r>
              <a:endParaRPr lang="en-GB" sz="2000" b="1" i="1" dirty="0">
                <a:solidFill>
                  <a:srgbClr val="213552"/>
                </a:solidFill>
              </a:endParaRPr>
            </a:p>
          </p:txBody>
        </p:sp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72B68D64-316B-ABA5-56DD-53B4BBA0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9" y="2702213"/>
            <a:ext cx="723550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8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The regret of Phase III was </a:t>
            </a:r>
            <a: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analysed separately </a:t>
            </a:r>
            <a:r>
              <a:rPr kumimoji="0" lang="en-IT" altLang="en-IT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under three different feedback models of increasing complexity: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</a:br>
            <a:r>
              <a:rPr kumimoji="0" lang="en-IT" altLang="en-IT" sz="1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4. Full feedback:</a:t>
            </a:r>
            <a: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 to isolate the main ideas behind optimism.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</a:br>
            <a:r>
              <a:rPr kumimoji="0" lang="en-IT" altLang="en-IT" sz="1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5. Bandit feedback:</a:t>
            </a:r>
            <a: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 to carry out computations related to bandit estimators.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IT" altLang="en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</a:br>
            <a:r>
              <a:rPr kumimoji="0" lang="en-IT" altLang="en-IT" sz="1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6. One-bit realistic feedback: </a:t>
            </a:r>
            <a:r>
              <a:rPr lang="en-IT" altLang="en-IT" i="1" dirty="0">
                <a:solidFill>
                  <a:srgbClr val="000000"/>
                </a:solidFill>
                <a:cs typeface="Calibri" panose="020F0502020204030204" pitchFamily="34" charset="0"/>
              </a:rPr>
              <a:t>completes the study.</a:t>
            </a:r>
            <a:endParaRPr kumimoji="0" lang="en-IT" altLang="en-IT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9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81E0-093A-7401-D3DC-EF9E05D0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2B2991-0F24-2483-E6AA-B9FBF0E3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16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EED58A-60DD-948A-760D-B1C3F5AD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73F91-876B-A07A-4277-02102B5DE52E}"/>
              </a:ext>
            </a:extLst>
          </p:cNvPr>
          <p:cNvSpPr txBox="1"/>
          <p:nvPr/>
        </p:nvSpPr>
        <p:spPr>
          <a:xfrm>
            <a:off x="2952631" y="1374316"/>
            <a:ext cx="62867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400" b="1" i="1" dirty="0">
                <a:solidFill>
                  <a:srgbClr val="213552"/>
                </a:solidFill>
                <a:latin typeface="+mj-lt"/>
              </a:rPr>
              <a:t>Parameters choice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F8828E-CCC5-24AE-61C9-F79409E14621}"/>
              </a:ext>
            </a:extLst>
          </p:cNvPr>
          <p:cNvGrpSpPr/>
          <p:nvPr/>
        </p:nvGrpSpPr>
        <p:grpSpPr>
          <a:xfrm>
            <a:off x="4499405" y="2609319"/>
            <a:ext cx="3193180" cy="1338513"/>
            <a:chOff x="1162050" y="2337442"/>
            <a:chExt cx="3193180" cy="1338513"/>
          </a:xfrm>
        </p:grpSpPr>
        <p:pic>
          <p:nvPicPr>
            <p:cNvPr id="7" name="Picture 6" descr="A math symbols with a plus and t&#10;&#10;AI-generated content may be incorrect.">
              <a:extLst>
                <a:ext uri="{FF2B5EF4-FFF2-40B4-BE49-F238E27FC236}">
                  <a16:creationId xmlns:a16="http://schemas.microsoft.com/office/drawing/2014/main" id="{6CDC61B4-0852-F072-6069-2F5751E04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050" y="2906514"/>
              <a:ext cx="3193180" cy="76944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B58D51-8DC4-6368-BAC1-DFB7D15C96FA}"/>
                </a:ext>
              </a:extLst>
            </p:cNvPr>
            <p:cNvSpPr txBox="1"/>
            <p:nvPr/>
          </p:nvSpPr>
          <p:spPr>
            <a:xfrm>
              <a:off x="1251229" y="2337442"/>
              <a:ext cx="30148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it-IT" sz="2000" b="1" i="1" dirty="0">
                  <a:solidFill>
                    <a:srgbClr val="213552"/>
                  </a:solidFill>
                </a:rPr>
                <a:t>Regret of Phases II and III</a:t>
              </a:r>
              <a:endParaRPr lang="en-GB" sz="2000" b="1" i="1" dirty="0">
                <a:solidFill>
                  <a:srgbClr val="21355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E0CE78-B909-FF05-598F-107EB99B4796}"/>
              </a:ext>
            </a:extLst>
          </p:cNvPr>
          <p:cNvGrpSpPr/>
          <p:nvPr/>
        </p:nvGrpSpPr>
        <p:grpSpPr>
          <a:xfrm>
            <a:off x="1107679" y="2609319"/>
            <a:ext cx="2805584" cy="1388695"/>
            <a:chOff x="7766610" y="2419992"/>
            <a:chExt cx="2805584" cy="1480171"/>
          </a:xfrm>
        </p:grpSpPr>
        <p:pic>
          <p:nvPicPr>
            <p:cNvPr id="9" name="Picture 8" descr="A black square root of a square and a square of a square&#10;&#10;AI-generated content may be incorrect.">
              <a:extLst>
                <a:ext uri="{FF2B5EF4-FFF2-40B4-BE49-F238E27FC236}">
                  <a16:creationId xmlns:a16="http://schemas.microsoft.com/office/drawing/2014/main" id="{F2DAE24C-2F2A-3146-777C-FE6A72F6F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7652" y="2973063"/>
              <a:ext cx="2603500" cy="9271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F98CCC-AE8D-B6C3-229D-C81B9AB642EC}"/>
                </a:ext>
              </a:extLst>
            </p:cNvPr>
            <p:cNvSpPr txBox="1"/>
            <p:nvPr/>
          </p:nvSpPr>
          <p:spPr>
            <a:xfrm>
              <a:off x="7766610" y="2419992"/>
              <a:ext cx="2805584" cy="426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it-IT" sz="2000" b="1" i="1" dirty="0">
                  <a:solidFill>
                    <a:srgbClr val="213552"/>
                  </a:solidFill>
                </a:rPr>
                <a:t>Regret of Phase I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A70BF7-CC78-4B77-434C-F61317749E1C}"/>
              </a:ext>
            </a:extLst>
          </p:cNvPr>
          <p:cNvGrpSpPr/>
          <p:nvPr/>
        </p:nvGrpSpPr>
        <p:grpSpPr>
          <a:xfrm>
            <a:off x="8054058" y="2609319"/>
            <a:ext cx="3193179" cy="1124924"/>
            <a:chOff x="8054058" y="2609319"/>
            <a:chExt cx="3193179" cy="112492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5476A2-4755-DDE7-A3EB-3048E531E727}"/>
                </a:ext>
              </a:extLst>
            </p:cNvPr>
            <p:cNvSpPr txBox="1"/>
            <p:nvPr/>
          </p:nvSpPr>
          <p:spPr>
            <a:xfrm>
              <a:off x="8054058" y="2609319"/>
              <a:ext cx="31931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it-IT" sz="2000" b="1" i="1" dirty="0">
                  <a:solidFill>
                    <a:srgbClr val="213552"/>
                  </a:solidFill>
                </a:rPr>
                <a:t>Regret due to Discretization</a:t>
              </a:r>
              <a:endParaRPr lang="en-GB" sz="2000" b="1" i="1" dirty="0">
                <a:solidFill>
                  <a:srgbClr val="213552"/>
                </a:solidFill>
              </a:endParaRPr>
            </a:p>
          </p:txBody>
        </p:sp>
        <p:pic>
          <p:nvPicPr>
            <p:cNvPr id="17" name="Picture 16" descr="A black text with a white background&#10;&#10;AI-generated content may be incorrect.">
              <a:extLst>
                <a:ext uri="{FF2B5EF4-FFF2-40B4-BE49-F238E27FC236}">
                  <a16:creationId xmlns:a16="http://schemas.microsoft.com/office/drawing/2014/main" id="{20BC5E5C-64A3-1E5D-1266-6611F0EE9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8739" y="3391979"/>
              <a:ext cx="1323815" cy="34226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0B5DC5-18F8-EC5D-C5C4-32A48B811FAB}"/>
                  </a:ext>
                </a:extLst>
              </p:cNvPr>
              <p:cNvSpPr txBox="1"/>
              <p:nvPr/>
            </p:nvSpPr>
            <p:spPr>
              <a:xfrm>
                <a:off x="758126" y="4529576"/>
                <a:ext cx="5337874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IT" altLang="en-IT" sz="180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Therefore, the following choice</a:t>
                </a:r>
                <a:r>
                  <a:rPr kumimoji="0" lang="en-IT" altLang="en-IT" sz="180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 is optimal</a:t>
                </a:r>
                <a:r>
                  <a:rPr kumimoji="0" lang="en-IT" altLang="en-IT" sz="180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Calibri" panose="020F0502020204030204" pitchFamily="34" charset="0"/>
                  </a:rPr>
                  <a:t>: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en-IT" altLang="en-IT" sz="180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altLang="en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eqArrPr>
                          <m:e>
                            <m:r>
                              <a:rPr lang="it-IT" altLang="en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  <m:r>
                              <a:rPr lang="it-IT" altLang="en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=</m:t>
                            </m:r>
                            <m:rad>
                              <m:radPr>
                                <m:degHide m:val="on"/>
                                <m:ctrlPr>
                                  <a:rPr lang="it-IT" altLang="en-I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it-IT" altLang="en-IT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𝑇</m:t>
                                </m:r>
                              </m:e>
                            </m:rad>
                            <m:r>
                              <a:rPr lang="it-IT" altLang="en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</m:t>
                            </m:r>
                          </m:e>
                          <m:e>
                            <m:r>
                              <a:rPr lang="it-IT" altLang="en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it-IT" altLang="en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𝐾</m:t>
                            </m:r>
                            <m:r>
                              <a:rPr lang="it-IT" altLang="en-IT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= </m:t>
                            </m:r>
                            <m:sSup>
                              <m:sSupPr>
                                <m:ctrlPr>
                                  <a:rPr lang="it-IT" altLang="en-IT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it-IT" altLang="en-IT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𝑇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it-IT" altLang="en-IT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altLang="en-IT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t-IT" altLang="en-IT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den>
                                </m:f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kumimoji="0" lang="en-IT" altLang="en-IT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0B5DC5-18F8-EC5D-C5C4-32A48B811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26" y="4529576"/>
                <a:ext cx="5337874" cy="811761"/>
              </a:xfrm>
              <a:prstGeom prst="rect">
                <a:avLst/>
              </a:prstGeom>
              <a:blipFill>
                <a:blip r:embed="rId5"/>
                <a:stretch>
                  <a:fillRect l="-948" t="-193846" r="-2607" b="-28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27D8DE-1227-7B5E-15C7-7FDE8463F5F6}"/>
                  </a:ext>
                </a:extLst>
              </p:cNvPr>
              <p:cNvSpPr txBox="1"/>
              <p:nvPr/>
            </p:nvSpPr>
            <p:spPr>
              <a:xfrm>
                <a:off x="6850407" y="4560249"/>
                <a:ext cx="427666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it-IT" altLang="en-IT" sz="140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Notice that </a:t>
                </a:r>
                <a14:m>
                  <m:oMath xmlns:m="http://schemas.openxmlformats.org/officeDocument/2006/math">
                    <m:r>
                      <a:rPr kumimoji="0" lang="it-IT" altLang="en-IT" sz="140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kumimoji="0" lang="en-IT" altLang="en-IT" sz="1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must be enough to support the cost of Phases II and III</a:t>
                </a:r>
                <a:r>
                  <a:rPr kumimoji="0" lang="en-IT" altLang="en-IT" sz="1400" b="0" i="1" u="none" strike="noStrike" cap="none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– but not too big because regret of Phase I grows linearly with </a:t>
                </a:r>
                <a14:m>
                  <m:oMath xmlns:m="http://schemas.openxmlformats.org/officeDocument/2006/math">
                    <m:r>
                      <a:rPr kumimoji="0" lang="en-IT" altLang="en-IT" sz="1400" b="0" i="1" u="none" strike="noStrike" cap="none" normalizeH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kumimoji="0" lang="en-IT" altLang="en-IT" sz="1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27D8DE-1227-7B5E-15C7-7FDE8463F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407" y="4560249"/>
                <a:ext cx="4276664" cy="738664"/>
              </a:xfrm>
              <a:prstGeom prst="rect">
                <a:avLst/>
              </a:prstGeom>
              <a:blipFill>
                <a:blip r:embed="rId6"/>
                <a:stretch>
                  <a:fillRect t="-1695" b="-847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2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7937-F54B-DB25-FD45-05D94A94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E4666D-1625-2E42-903F-E5E2E94B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17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DB6E19-4551-C501-F809-42ADDE92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2454965" cy="543697"/>
          </a:xfrm>
        </p:spPr>
        <p:txBody>
          <a:bodyPr>
            <a:normAutofit/>
          </a:bodyPr>
          <a:lstStyle/>
          <a:p>
            <a:r>
              <a:rPr lang="it-IT" dirty="0"/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93414C-BD8A-2410-C833-412650B72937}"/>
              </a:ext>
            </a:extLst>
          </p:cNvPr>
          <p:cNvGrpSpPr/>
          <p:nvPr/>
        </p:nvGrpSpPr>
        <p:grpSpPr>
          <a:xfrm>
            <a:off x="1620918" y="1769198"/>
            <a:ext cx="8950163" cy="3319604"/>
            <a:chOff x="1620913" y="1374316"/>
            <a:chExt cx="8950163" cy="3319604"/>
          </a:xfrm>
        </p:grpSpPr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1111ADD7-B8D6-B015-2173-B2A52DBA8377}"/>
                </a:ext>
              </a:extLst>
            </p:cNvPr>
            <p:cNvSpPr txBox="1"/>
            <p:nvPr/>
          </p:nvSpPr>
          <p:spPr>
            <a:xfrm>
              <a:off x="3044112" y="3931536"/>
              <a:ext cx="6195248" cy="7623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/>
            <a:lstStyle/>
            <a:p>
              <a:pPr algn="ctr"/>
              <a:r>
                <a:rPr lang="it-IT" sz="2000" i="1" dirty="0"/>
                <a:t>« Therefore, the new distributional benchmark provably</a:t>
              </a:r>
              <a:r>
                <a:rPr sz="2000" i="1" dirty="0"/>
                <a:t> </a:t>
              </a:r>
              <a:r>
                <a:rPr lang="it-IT" sz="2000" i="1" dirty="0"/>
                <a:t>attainable in stochastic environments. »</a:t>
              </a:r>
              <a:endParaRPr sz="2000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EE5F4F-B300-ACD3-8250-7D5A3D0437A0}"/>
                </a:ext>
              </a:extLst>
            </p:cNvPr>
            <p:cNvSpPr txBox="1"/>
            <p:nvPr/>
          </p:nvSpPr>
          <p:spPr>
            <a:xfrm>
              <a:off x="2952631" y="1374316"/>
              <a:ext cx="628672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4400" b="1" i="1" dirty="0">
                  <a:solidFill>
                    <a:srgbClr val="213552"/>
                  </a:solidFill>
                  <a:latin typeface="+mj-lt"/>
                </a:rPr>
                <a:t>Main results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1B552D-1398-DB6D-8731-FECD38F17F53}"/>
                    </a:ext>
                  </a:extLst>
                </p:cNvPr>
                <p:cNvSpPr txBox="1"/>
                <p:nvPr/>
              </p:nvSpPr>
              <p:spPr>
                <a:xfrm>
                  <a:off x="1620913" y="2495639"/>
                  <a:ext cx="8950163" cy="1084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it-IT" sz="2000" i="1" dirty="0"/>
                    <a:t>« In stochastic i.i.d. dual markets with bounded density under one-bit realistic feedback, sublinear regret with rate  </a:t>
                  </a:r>
                  <a14:m>
                    <m:oMath xmlns:m="http://schemas.openxmlformats.org/officeDocument/2006/math"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( </m:t>
                      </m:r>
                      <m:sSup>
                        <m:sSupPr>
                          <m:ctrlPr>
                            <a:rPr lang="it-IT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it-IT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it-IT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it-IT" sz="2000" b="0" i="1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a14:m>
                  <a:r>
                    <a:rPr lang="it-IT" sz="2000" i="1" dirty="0"/>
                    <a:t>  is achievable against the optimal GBB distribution of prices, while guaranteeing global budget balance. »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1B552D-1398-DB6D-8731-FECD38F17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913" y="2495639"/>
                  <a:ext cx="8950163" cy="1084015"/>
                </a:xfrm>
                <a:prstGeom prst="rect">
                  <a:avLst/>
                </a:prstGeom>
                <a:blipFill>
                  <a:blip r:embed="rId2"/>
                  <a:stretch>
                    <a:fillRect l="-283" t="-3488" r="-992" b="-11628"/>
                  </a:stretch>
                </a:blipFill>
              </p:spPr>
              <p:txBody>
                <a:bodyPr/>
                <a:lstStyle/>
                <a:p>
                  <a:r>
                    <a:rPr lang="en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60435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BE520-0938-FDD1-E117-81657087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AD42A6-2B31-CE4E-C795-EAD385E0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18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E0893-206D-D9C8-3BCD-C8D5E662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Mathematical tools</a:t>
            </a:r>
          </a:p>
        </p:txBody>
      </p:sp>
      <p:pic>
        <p:nvPicPr>
          <p:cNvPr id="8" name="Picture 7" descr="A group of math equations and graphs&#10;&#10;AI-generated content may be incorrect.">
            <a:extLst>
              <a:ext uri="{FF2B5EF4-FFF2-40B4-BE49-F238E27FC236}">
                <a16:creationId xmlns:a16="http://schemas.microsoft.com/office/drawing/2014/main" id="{676310F1-5107-52EE-59D0-5B839E223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04" y="1292352"/>
            <a:ext cx="8241792" cy="47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04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5035-58B9-4BDC-8E98-F9C6E2D5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45C5D1-1E6E-8BC0-9CC8-FBA1341E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19</a:t>
            </a:fld>
            <a:r>
              <a:rPr lang="it-IT" dirty="0"/>
              <a:t>/19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DB7BCE-183B-28DB-1889-C0E63E45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Main references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F0DBB7-78D0-E41E-EC32-12940CFC4CE2}"/>
              </a:ext>
            </a:extLst>
          </p:cNvPr>
          <p:cNvGrpSpPr/>
          <p:nvPr/>
        </p:nvGrpSpPr>
        <p:grpSpPr>
          <a:xfrm>
            <a:off x="1808101" y="1384959"/>
            <a:ext cx="8575797" cy="4088081"/>
            <a:chOff x="1808101" y="1384959"/>
            <a:chExt cx="8575797" cy="408808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A814457-1C4B-27FF-FF65-931DFEB21FAA}"/>
                </a:ext>
              </a:extLst>
            </p:cNvPr>
            <p:cNvGrpSpPr/>
            <p:nvPr/>
          </p:nvGrpSpPr>
          <p:grpSpPr>
            <a:xfrm>
              <a:off x="1808101" y="1384959"/>
              <a:ext cx="8575797" cy="4088081"/>
              <a:chOff x="1808101" y="1384959"/>
              <a:chExt cx="8575797" cy="4088081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85E2A29-AFA5-238C-4497-3601749F7857}"/>
                  </a:ext>
                </a:extLst>
              </p:cNvPr>
              <p:cNvGrpSpPr/>
              <p:nvPr/>
            </p:nvGrpSpPr>
            <p:grpSpPr>
              <a:xfrm>
                <a:off x="1808101" y="1384959"/>
                <a:ext cx="8575797" cy="4088081"/>
                <a:chOff x="1808101" y="1384959"/>
                <a:chExt cx="8575797" cy="4088081"/>
              </a:xfrm>
            </p:grpSpPr>
            <p:pic>
              <p:nvPicPr>
                <p:cNvPr id="7" name="Picture 6" descr="A group of banners with text and images&#10;&#10;AI-generated content may be incorrect.">
                  <a:extLst>
                    <a:ext uri="{FF2B5EF4-FFF2-40B4-BE49-F238E27FC236}">
                      <a16:creationId xmlns:a16="http://schemas.microsoft.com/office/drawing/2014/main" id="{CA2A7258-DDA4-F2E1-4277-5A3502CC8B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278" b="23217"/>
                <a:stretch>
                  <a:fillRect/>
                </a:stretch>
              </p:blipFill>
              <p:spPr>
                <a:xfrm>
                  <a:off x="1808101" y="1384959"/>
                  <a:ext cx="8575797" cy="4088081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0F2FE06-45FD-3773-9853-E4D80A83F9D8}"/>
                    </a:ext>
                  </a:extLst>
                </p:cNvPr>
                <p:cNvSpPr/>
                <p:nvPr/>
              </p:nvSpPr>
              <p:spPr>
                <a:xfrm>
                  <a:off x="2826327" y="5245331"/>
                  <a:ext cx="166255" cy="227709"/>
                </a:xfrm>
                <a:prstGeom prst="rect">
                  <a:avLst/>
                </a:prstGeom>
                <a:solidFill>
                  <a:srgbClr val="FFF8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EA5C81-FC79-2D2B-85C8-D158C340B268}"/>
                  </a:ext>
                </a:extLst>
              </p:cNvPr>
              <p:cNvSpPr/>
              <p:nvPr/>
            </p:nvSpPr>
            <p:spPr>
              <a:xfrm>
                <a:off x="7876096" y="2022049"/>
                <a:ext cx="400639" cy="245097"/>
              </a:xfrm>
              <a:prstGeom prst="rect">
                <a:avLst/>
              </a:prstGeom>
              <a:solidFill>
                <a:srgbClr val="FEF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37C8F7-6BA9-2234-AE21-A9B54B4BC712}"/>
                </a:ext>
              </a:extLst>
            </p:cNvPr>
            <p:cNvSpPr/>
            <p:nvPr/>
          </p:nvSpPr>
          <p:spPr>
            <a:xfrm>
              <a:off x="7475457" y="3707640"/>
              <a:ext cx="400639" cy="108302"/>
            </a:xfrm>
            <a:prstGeom prst="rect">
              <a:avLst/>
            </a:prstGeom>
            <a:solidFill>
              <a:srgbClr val="FEF9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4FCE64-4C7A-273A-0D8C-B43258CC22D8}"/>
                </a:ext>
              </a:extLst>
            </p:cNvPr>
            <p:cNvSpPr/>
            <p:nvPr/>
          </p:nvSpPr>
          <p:spPr>
            <a:xfrm>
              <a:off x="7517154" y="3663210"/>
              <a:ext cx="302930" cy="197612"/>
            </a:xfrm>
            <a:prstGeom prst="rect">
              <a:avLst/>
            </a:prstGeom>
            <a:solidFill>
              <a:srgbClr val="FEF9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38E097-0A47-ECD4-560E-20F8E2455F8D}"/>
                </a:ext>
              </a:extLst>
            </p:cNvPr>
            <p:cNvSpPr/>
            <p:nvPr/>
          </p:nvSpPr>
          <p:spPr>
            <a:xfrm>
              <a:off x="7579711" y="3815942"/>
              <a:ext cx="105737" cy="251175"/>
            </a:xfrm>
            <a:prstGeom prst="rect">
              <a:avLst/>
            </a:prstGeom>
            <a:solidFill>
              <a:srgbClr val="FEF9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2CD2F1-469B-A687-3BF1-880923B7AAAF}"/>
                </a:ext>
              </a:extLst>
            </p:cNvPr>
            <p:cNvSpPr/>
            <p:nvPr/>
          </p:nvSpPr>
          <p:spPr>
            <a:xfrm>
              <a:off x="7640570" y="3761791"/>
              <a:ext cx="86575" cy="197612"/>
            </a:xfrm>
            <a:prstGeom prst="rect">
              <a:avLst/>
            </a:prstGeom>
            <a:solidFill>
              <a:srgbClr val="FEF9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</p:spTree>
    <p:extLst>
      <p:ext uri="{BB962C8B-B14F-4D97-AF65-F5344CB8AC3E}">
        <p14:creationId xmlns:p14="http://schemas.microsoft.com/office/powerpoint/2010/main" val="1483943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973</Words>
  <Application>Microsoft Macintosh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Online Bilateral Trade: Learning the Optimal Policy in a Stochastic Environment</vt:lpstr>
      <vt:lpstr>Scenario</vt:lpstr>
      <vt:lpstr>Framework</vt:lpstr>
      <vt:lpstr>Objective function</vt:lpstr>
      <vt:lpstr>Global Budget Balance</vt:lpstr>
      <vt:lpstr>A new benchmark</vt:lpstr>
      <vt:lpstr>A theoretical work</vt:lpstr>
      <vt:lpstr>An overview of results</vt:lpstr>
      <vt:lpstr>Hypothesis</vt:lpstr>
      <vt:lpstr>Three-Phase approach</vt:lpstr>
      <vt:lpstr>Phase I – Budget Accumulation</vt:lpstr>
      <vt:lpstr>Phase II – Pure Exploration</vt:lpstr>
      <vt:lpstr>Phase III – Optimization</vt:lpstr>
      <vt:lpstr>Back to continuous</vt:lpstr>
      <vt:lpstr>Methodology</vt:lpstr>
      <vt:lpstr>Parameters</vt:lpstr>
      <vt:lpstr>Conclusion</vt:lpstr>
      <vt:lpstr>Mathematical tools</vt:lpstr>
      <vt:lpstr>Main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Mattia Piccinato</cp:lastModifiedBy>
  <cp:revision>16</cp:revision>
  <dcterms:created xsi:type="dcterms:W3CDTF">2019-02-13T14:58:22Z</dcterms:created>
  <dcterms:modified xsi:type="dcterms:W3CDTF">2026-02-25T18:49:26Z</dcterms:modified>
</cp:coreProperties>
</file>