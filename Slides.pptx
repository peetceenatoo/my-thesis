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9" r:id="rId3"/>
    <p:sldId id="260" r:id="rId4"/>
    <p:sldId id="265" r:id="rId5"/>
    <p:sldId id="261" r:id="rId6"/>
    <p:sldId id="280" r:id="rId7"/>
    <p:sldId id="263" r:id="rId8"/>
    <p:sldId id="262" r:id="rId9"/>
    <p:sldId id="267" r:id="rId10"/>
    <p:sldId id="268" r:id="rId11"/>
    <p:sldId id="269" r:id="rId12"/>
    <p:sldId id="270" r:id="rId13"/>
    <p:sldId id="275" r:id="rId14"/>
    <p:sldId id="277" r:id="rId15"/>
    <p:sldId id="279" r:id="rId16"/>
    <p:sldId id="282" r:id="rId17"/>
    <p:sldId id="281" r:id="rId18"/>
    <p:sldId id="283" r:id="rId19"/>
    <p:sldId id="284" r:id="rId20"/>
    <p:sldId id="285" r:id="rId21"/>
    <p:sldId id="286" r:id="rId22"/>
    <p:sldId id="287" r:id="rId23"/>
    <p:sldId id="288" r:id="rId2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3552"/>
    <a:srgbClr val="FFFCF8"/>
    <a:srgbClr val="FEF9F1"/>
    <a:srgbClr val="FFF8F4"/>
    <a:srgbClr val="FCF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73" autoAdjust="0"/>
    <p:restoredTop sz="94631"/>
  </p:normalViewPr>
  <p:slideViewPr>
    <p:cSldViewPr snapToGrid="0">
      <p:cViewPr>
        <p:scale>
          <a:sx n="106" d="100"/>
          <a:sy n="106" d="100"/>
        </p:scale>
        <p:origin x="288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39.89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7.5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51.69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2.3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3.6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59.1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8FC050-9C1D-4A44-B4C3-0E30B77BCAC1}" type="datetimeFigureOut">
              <a:rPr lang="it-IT" smtClean="0"/>
              <a:t>25/03/26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D5E19-E7CA-45F6-8D44-210B4E61BA9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0400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Bilateral Trade through the lenses of Online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436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Pricing problem with a Buyer and a Seller, Real-world Example No Interest in Making a Profit, Impossibility Result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5851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Known Distributions Approach, Cesa Bianchi: Repeated Interaction With Environment (Horizon, Realistic Feedback, Benchmark)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2772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Social Welfare vs Gain From Trade. Plot tells a lot about GBB (Sketch). However, We Want to Get similar GFT to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47204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Interest in Making a Profit, SBB (old) vs GBB (new), So Now 2D, Bernasconi: Attaining Best Fixed Price in Adversarial (a Harder Setting)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0347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A new Benchmark “OPTIMAL POLICY”, Strictly stronger (Sketch), Impossible in Adversarial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90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This work: Stochastic Environment. Provide Algorithm with Sublinear Upper Bound </a:t>
            </a:r>
            <a:r>
              <a:rPr lang="en-GB" b="0" dirty="0"/>
              <a:t>in the Worst Case</a:t>
            </a:r>
            <a:r>
              <a:rPr lang="en-IT" b="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4269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Recap, Spoiler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1541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Phase I, Phase II, Phase III. If budget is over,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0736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dirty="0"/>
                  <a:t>Not</a:t>
                </a:r>
                <a:r>
                  <a:rPr lang="en-IT" baseline="0" dirty="0"/>
                  <a:t> possible to Explore Continuous in this Setting (mention bounded density). </a:t>
                </a:r>
                <a:r>
                  <a:rPr lang="en-IT" dirty="0"/>
                  <a:t>Gain sometimes to explore</a:t>
                </a:r>
                <a:r>
                  <a:rPr lang="en-IT" baseline="0" dirty="0"/>
                  <a:t> then. </a:t>
                </a:r>
                <a:r>
                  <a:rPr lang="en-IT" dirty="0"/>
                  <a:t>Multiplicative grid:</a:t>
                </a:r>
                <a:r>
                  <a:rPr lang="en-IT" baseline="0" dirty="0"/>
                  <a:t> n</a:t>
                </a:r>
                <a:r>
                  <a:rPr lang="en-IT" dirty="0"/>
                  <a:t>ot </a:t>
                </a:r>
                <a:r>
                  <a:rPr lang="en-IT" altLang="en-IT" sz="12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K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T" altLang="en-IT" sz="120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radPr>
                      <m:deg/>
                      <m:e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IT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dirty="0"/>
                  <a:t>Multiplicative grid. Explain regret. Not </a:t>
                </a:r>
                <a:r>
                  <a:rPr lang="en-IT" altLang="en-IT" sz="12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K</a:t>
                </a:r>
                <a:r>
                  <a:rPr lang="en-IT" altLang="en-IT" sz="120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√</a:t>
                </a:r>
                <a:r>
                  <a:rPr lang="it-IT" altLang="en-IT" sz="1200" b="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𝑇</a:t>
                </a:r>
                <a:endParaRPr lang="en-IT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9888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b="0" dirty="0"/>
                  <a:t>Poor feedback:</a:t>
                </a:r>
                <a:r>
                  <a:rPr lang="en-IT" b="0" baseline="0" dirty="0"/>
                  <a:t> not observable parts of GFT. </a:t>
                </a:r>
                <a:r>
                  <a:rPr lang="en-IT" b="0" dirty="0"/>
                  <a:t>Smart unbiased estimator formula:</a:t>
                </a:r>
                <a:r>
                  <a:rPr lang="en-IT" b="0" baseline="0" dirty="0"/>
                  <a:t> n</a:t>
                </a:r>
                <a:r>
                  <a:rPr lang="en-IT" b="0" dirty="0"/>
                  <a:t>ot </a:t>
                </a:r>
                <a14:m>
                  <m:oMath xmlns:m="http://schemas.openxmlformats.org/officeDocument/2006/math">
                    <m:r>
                      <a:rPr lang="it-IT" altLang="en-IT" sz="12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𝑚</m:t>
                    </m:r>
                    <m:sSup>
                      <m:sSupPr>
                        <m:ctrlPr>
                          <a:rPr lang="it-IT" altLang="en-IT" sz="120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𝐾</m:t>
                        </m:r>
                      </m:e>
                      <m:sup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T" b="0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b="0" dirty="0"/>
                  <a:t>Smart formula. Explain regret. Not </a:t>
                </a:r>
                <a:r>
                  <a:rPr lang="it-IT" altLang="en-IT" sz="120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𝑚</a:t>
                </a:r>
                <a:r>
                  <a:rPr lang="it-IT" altLang="en-IT" sz="1200" b="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𝐾^2</a:t>
                </a:r>
                <a:endParaRPr lang="en-IT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1112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LP: Optimism of GFT + Optimism on feasibility constraint: An algorithm conceived to control pseudo-regret.</a:t>
            </a:r>
            <a:endParaRPr lang="en-IT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6672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Considering discretization error, Running out of budget worst cases, Error of estimation with poor feedback… We control it, Optimize parameters and manage to prove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87901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Besides all of that, expected pseud—regret is bounded in the worst case by T^3/4 in this setting. NEW DISTRIBUTIONAL IS ATTAINABLE.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42593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73474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531-7905-52E9-64E9-AFC4C716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6BD90-EC38-38DA-EF25-6D473E023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2A2A0-0FA6-B9BB-722D-968DCE8FF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86359-3206-8824-C28C-47F5CF462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08131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ED7A-9157-CB9A-41DB-B6171AEA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DE4A3-32DD-0152-4D3A-8E9B7669B4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9D901-F4FA-3F8C-F6DE-CDD2886D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1EA93-BEA4-DEF5-0AFE-4D828ECE4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92383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1E1F6-8EFD-5111-250C-E1A8A579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F48DE7-4360-B179-2737-0185307B8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86AE7-DC40-EE43-6131-657A1D094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601EB-AE97-5FA3-0894-C5395A72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7971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00B2-9872-5297-04B4-DE3609612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F305B-E20B-28EF-4AFB-18E7890A5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8A9D35-D3D6-8FF4-FBDC-B4F4520E6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B536C-0A5A-2BF5-1CCC-730503550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4505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DD1FE-24A3-C43C-AFCA-BA680E30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E99072-2E4F-BA69-0E57-12167FFDB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2C94-47A4-4B56-A9C3-4A45E6504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6A660-F0DB-BB0B-A2A8-9EDF04543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29105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EF859-315C-2A92-268C-7A58C5EE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2A9E54-660C-8EE8-A55E-19D4D3008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4BFD9B-D88A-3B03-0BC5-2CA1B3F93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8E2D8-CEC7-A744-BBBD-8055C3CD5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59483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C0EB-FF60-5079-6447-0A9F133E3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ECA22-AFBF-E0FA-EA88-ED5CAE888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3E9D2E-3DCB-8900-408D-5CA31223A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74EE0-B08E-631E-265E-599B3E97B7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27952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11291-3E5F-B3A6-3766-CEF0DD01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19773-8175-005B-6DD8-5CEC5D91A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8E41D-B27C-A284-C8E4-8F652A45F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BABCB-860E-3087-D73F-95923B5ED3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0094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64" b="42715"/>
          <a:stretch/>
        </p:blipFill>
        <p:spPr>
          <a:xfrm>
            <a:off x="0" y="1485900"/>
            <a:ext cx="12192000" cy="53721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66675"/>
            <a:ext cx="4552632" cy="1348649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838200" y="2441055"/>
            <a:ext cx="10515600" cy="1325563"/>
          </a:xfrm>
        </p:spPr>
        <p:txBody>
          <a:bodyPr/>
          <a:lstStyle>
            <a:lvl1pPr algn="ctr">
              <a:defRPr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Thesis Title</a:t>
            </a:r>
            <a:endParaRPr lang="it-IT" dirty="0"/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393353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Supervisor</a:t>
            </a:r>
            <a:endParaRPr lang="it-IT" dirty="0"/>
          </a:p>
        </p:txBody>
      </p:sp>
      <p:sp>
        <p:nvSpPr>
          <p:cNvPr id="17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393353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Co-Supervisor</a:t>
            </a:r>
            <a:endParaRPr lang="it-IT" dirty="0"/>
          </a:p>
        </p:txBody>
      </p:sp>
      <p:sp>
        <p:nvSpPr>
          <p:cNvPr id="20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8305798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Candidate</a:t>
            </a:r>
            <a:endParaRPr lang="it-IT" dirty="0"/>
          </a:p>
        </p:txBody>
      </p:sp>
      <p:sp>
        <p:nvSpPr>
          <p:cNvPr id="21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8305798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Academic Year</a:t>
            </a:r>
            <a:endParaRPr lang="it-IT" dirty="0"/>
          </a:p>
        </p:txBody>
      </p:sp>
      <p:sp>
        <p:nvSpPr>
          <p:cNvPr id="22" name="TextBox 21"/>
          <p:cNvSpPr txBox="1"/>
          <p:nvPr userDrawn="1"/>
        </p:nvSpPr>
        <p:spPr>
          <a:xfrm>
            <a:off x="4251979" y="6285667"/>
            <a:ext cx="3688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aseline="0" dirty="0">
                <a:solidFill>
                  <a:schemeClr val="bg1"/>
                </a:solidFill>
                <a:latin typeface="+mj-lt"/>
              </a:rPr>
              <a:t>School of Industrial and Information Engineering</a:t>
            </a:r>
          </a:p>
          <a:p>
            <a:pPr algn="ctr"/>
            <a:r>
              <a:rPr lang="it-IT" sz="1600" baseline="0" dirty="0">
                <a:solidFill>
                  <a:schemeClr val="bg1"/>
                </a:solidFill>
                <a:latin typeface="+mj-lt"/>
              </a:rPr>
              <a:t>Master of Science – Energy Engineering</a:t>
            </a:r>
          </a:p>
        </p:txBody>
      </p:sp>
    </p:spTree>
    <p:extLst>
      <p:ext uri="{BB962C8B-B14F-4D97-AF65-F5344CB8AC3E}">
        <p14:creationId xmlns:p14="http://schemas.microsoft.com/office/powerpoint/2010/main" val="59527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91" b="2733"/>
          <a:stretch/>
        </p:blipFill>
        <p:spPr>
          <a:xfrm>
            <a:off x="-1" y="6226218"/>
            <a:ext cx="12191999" cy="6317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196" r="782"/>
          <a:stretch/>
        </p:blipFill>
        <p:spPr>
          <a:xfrm>
            <a:off x="0" y="0"/>
            <a:ext cx="12191999" cy="102380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2" y="6267469"/>
            <a:ext cx="3083718" cy="551728"/>
          </a:xfrm>
          <a:prstGeom prst="rect">
            <a:avLst/>
          </a:prstGeom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/>
          <a:lstStyle>
            <a:lvl1pPr>
              <a:defRPr sz="1600" b="1" i="0" baseline="0">
                <a:solidFill>
                  <a:schemeClr val="bg1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fld id="{DCE09022-C08B-4F34-B9F0-43AC160DA04C}" type="slidenum">
              <a:rPr lang="it-IT" smtClean="0"/>
              <a:pPr/>
              <a:t>‹#›</a:t>
            </a:fld>
            <a:r>
              <a:rPr lang="it-IT" dirty="0"/>
              <a:t>/19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>
          <a:xfrm>
            <a:off x="105355" y="90617"/>
            <a:ext cx="6971271" cy="543697"/>
          </a:xfrm>
        </p:spPr>
        <p:txBody>
          <a:bodyPr>
            <a:normAutofit/>
          </a:bodyPr>
          <a:lstStyle>
            <a:lvl1pPr>
              <a:defRPr sz="2800" b="1" i="1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798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50178-FFDF-4188-8352-D71733CC4DC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2584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1.png"/><Relationship Id="rId7" Type="http://schemas.openxmlformats.org/officeDocument/2006/relationships/customXml" Target="../ink/ink2.xml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customXml" Target="../ink/ink6.xml"/><Relationship Id="rId5" Type="http://schemas.openxmlformats.org/officeDocument/2006/relationships/customXml" Target="../ink/ink1.xml"/><Relationship Id="rId10" Type="http://schemas.openxmlformats.org/officeDocument/2006/relationships/customXml" Target="../ink/ink5.xml"/><Relationship Id="rId4" Type="http://schemas.openxmlformats.org/officeDocument/2006/relationships/image" Target="../media/image32.png"/><Relationship Id="rId9" Type="http://schemas.openxmlformats.org/officeDocument/2006/relationships/customXml" Target="../ink/ink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32616" y="2766218"/>
            <a:ext cx="10526767" cy="132556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4000" i="1" dirty="0"/>
              <a:t>Online Bilateral Trade</a:t>
            </a:r>
            <a:r>
              <a:rPr lang="it-IT" sz="4000" dirty="0"/>
              <a:t>: </a:t>
            </a:r>
            <a:r>
              <a:rPr lang="it-IT" sz="4000" i="1" dirty="0"/>
              <a:t>Learning the Optimal Policy in a Stochastic Environment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358348" y="5648783"/>
            <a:ext cx="3527854" cy="336722"/>
          </a:xfrm>
        </p:spPr>
        <p:txBody>
          <a:bodyPr/>
          <a:lstStyle/>
          <a:p>
            <a:r>
              <a:rPr lang="it-IT" sz="1800" b="1" dirty="0"/>
              <a:t>M. Castiglioni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358348" y="5985505"/>
            <a:ext cx="3527854" cy="500475"/>
          </a:xfrm>
        </p:spPr>
        <p:txBody>
          <a:bodyPr/>
          <a:lstStyle/>
          <a:p>
            <a:r>
              <a:rPr lang="it-IT" dirty="0"/>
              <a:t>A. Lunghi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/>
              <a:t>A. Marchesi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8305798" y="5648783"/>
            <a:ext cx="3527854" cy="472259"/>
          </a:xfrm>
        </p:spPr>
        <p:txBody>
          <a:bodyPr/>
          <a:lstStyle/>
          <a:p>
            <a:r>
              <a:rPr lang="it-IT" sz="2800" b="1" dirty="0"/>
              <a:t>Mattia Piccinato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8305798" y="6134175"/>
            <a:ext cx="3527854" cy="319859"/>
          </a:xfrm>
        </p:spPr>
        <p:txBody>
          <a:bodyPr/>
          <a:lstStyle/>
          <a:p>
            <a:r>
              <a:rPr lang="it-IT" sz="1800" dirty="0"/>
              <a:t>A.y. 2024-25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02DD2B-2BAF-1B22-ADD8-A31BDD1C0B06}"/>
              </a:ext>
            </a:extLst>
          </p:cNvPr>
          <p:cNvSpPr/>
          <p:nvPr/>
        </p:nvSpPr>
        <p:spPr>
          <a:xfrm>
            <a:off x="4459111" y="6129091"/>
            <a:ext cx="3273778" cy="649887"/>
          </a:xfrm>
          <a:prstGeom prst="rect">
            <a:avLst/>
          </a:prstGeom>
          <a:solidFill>
            <a:srgbClr val="2135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601361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2</a:t>
            </a:fld>
            <a:r>
              <a:rPr lang="it-IT" dirty="0"/>
              <a:t>/16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Scenario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6DB488E-CF85-9C1D-F046-44CE2A37269F}"/>
              </a:ext>
            </a:extLst>
          </p:cNvPr>
          <p:cNvGrpSpPr/>
          <p:nvPr/>
        </p:nvGrpSpPr>
        <p:grpSpPr>
          <a:xfrm>
            <a:off x="2356632" y="2657889"/>
            <a:ext cx="7478735" cy="1542222"/>
            <a:chOff x="1712638" y="2309820"/>
            <a:chExt cx="8630324" cy="1789962"/>
          </a:xfrm>
        </p:grpSpPr>
        <p:pic>
          <p:nvPicPr>
            <p:cNvPr id="9" name="Picture 8" descr="A screen shot of a computer&#10;&#10;AI-generated content may be incorrect.">
              <a:extLst>
                <a:ext uri="{FF2B5EF4-FFF2-40B4-BE49-F238E27FC236}">
                  <a16:creationId xmlns:a16="http://schemas.microsoft.com/office/drawing/2014/main" id="{1F19E4FD-4E20-233A-F8D4-38184A7BA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86" t="26407" r="13629" b="46654"/>
            <a:stretch>
              <a:fillRect/>
            </a:stretch>
          </p:blipFill>
          <p:spPr>
            <a:xfrm>
              <a:off x="1712638" y="2309820"/>
              <a:ext cx="4829515" cy="1789961"/>
            </a:xfrm>
            <a:prstGeom prst="rect">
              <a:avLst/>
            </a:prstGeom>
          </p:spPr>
        </p:pic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A5E0548B-F7CC-FC15-0BA7-A9B90A0C1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44" t="6990" r="7192" b="6990"/>
            <a:stretch>
              <a:fillRect/>
            </a:stretch>
          </p:blipFill>
          <p:spPr>
            <a:xfrm>
              <a:off x="7528561" y="2309820"/>
              <a:ext cx="2814401" cy="1789962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7F361CF3-0CDD-9903-F364-75D5A8749DB2}"/>
              </a:ext>
            </a:extLst>
          </p:cNvPr>
          <p:cNvSpPr txBox="1"/>
          <p:nvPr/>
        </p:nvSpPr>
        <p:spPr>
          <a:xfrm>
            <a:off x="1563682" y="4714244"/>
            <a:ext cx="9064627" cy="754053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Myerson-Satterthwaite (1983)</a:t>
            </a:r>
          </a:p>
          <a:p>
            <a:pPr algn="ctr"/>
            <a:r>
              <a:rPr lang="en-GB" i="1" dirty="0"/>
              <a:t>“Efficiency, Incentive Compatibility, Individual Rationality and Budget Balance cannot all hold.”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C94051-3967-0F7B-E9C2-D4A4BCF5D597}"/>
              </a:ext>
            </a:extLst>
          </p:cNvPr>
          <p:cNvSpPr txBox="1"/>
          <p:nvPr/>
        </p:nvSpPr>
        <p:spPr>
          <a:xfrm>
            <a:off x="2952632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Bilateral Trade</a:t>
            </a:r>
          </a:p>
        </p:txBody>
      </p:sp>
    </p:spTree>
    <p:extLst>
      <p:ext uri="{BB962C8B-B14F-4D97-AF65-F5344CB8AC3E}">
        <p14:creationId xmlns:p14="http://schemas.microsoft.com/office/powerpoint/2010/main" val="1701501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0E5E-3B80-2917-81C7-84007EDB4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D09A8B-1A0D-5AD5-697D-4BAFB392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3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25206-E6D3-D08F-C939-B0BE5A9E8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Framework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F2802-0C65-92C0-CA46-1884BD138319}"/>
              </a:ext>
            </a:extLst>
          </p:cNvPr>
          <p:cNvSpPr txBox="1"/>
          <p:nvPr/>
        </p:nvSpPr>
        <p:spPr>
          <a:xfrm>
            <a:off x="3041574" y="4722995"/>
            <a:ext cx="6108852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Cesa-Bianchi et. al (2021)</a:t>
            </a:r>
          </a:p>
          <a:p>
            <a:pPr algn="ctr">
              <a:spcAft>
                <a:spcPts val="600"/>
              </a:spcAft>
            </a:pPr>
            <a:r>
              <a:rPr lang="en-GB" i="1" dirty="0"/>
              <a:t>“Bilateral Trade: A Regret Minimization Perspective”</a:t>
            </a:r>
            <a:endParaRPr lang="en-GB" sz="2000" b="1" i="1" dirty="0">
              <a:solidFill>
                <a:srgbClr val="21355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8CAAC4-8590-76F4-E42C-1F82E3120EF1}"/>
              </a:ext>
            </a:extLst>
          </p:cNvPr>
          <p:cNvSpPr txBox="1"/>
          <p:nvPr/>
        </p:nvSpPr>
        <p:spPr>
          <a:xfrm>
            <a:off x="2394384" y="1380952"/>
            <a:ext cx="740322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Online Learning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8EFC78A-F589-1DA6-43EC-CBFE1618B3AC}"/>
              </a:ext>
            </a:extLst>
          </p:cNvPr>
          <p:cNvGrpSpPr/>
          <p:nvPr/>
        </p:nvGrpSpPr>
        <p:grpSpPr>
          <a:xfrm>
            <a:off x="3767773" y="2538632"/>
            <a:ext cx="4656466" cy="1815028"/>
            <a:chOff x="3356467" y="2410114"/>
            <a:chExt cx="5479055" cy="2018665"/>
          </a:xfrm>
        </p:grpSpPr>
        <p:pic>
          <p:nvPicPr>
            <p:cNvPr id="13" name="Picture 12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D04A41D7-E609-DF18-D438-3626A8431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220" b="26039"/>
            <a:stretch>
              <a:fillRect/>
            </a:stretch>
          </p:blipFill>
          <p:spPr>
            <a:xfrm>
              <a:off x="3356467" y="2410114"/>
              <a:ext cx="5479055" cy="1853413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22BECD1-E046-9427-73FD-9A2E87A1BC9F}"/>
                </a:ext>
              </a:extLst>
            </p:cNvPr>
            <p:cNvSpPr/>
            <p:nvPr/>
          </p:nvSpPr>
          <p:spPr>
            <a:xfrm>
              <a:off x="5607586" y="3690651"/>
              <a:ext cx="881349" cy="2423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pic>
          <p:nvPicPr>
            <p:cNvPr id="16" name="Picture 15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7F5F7CC7-D136-C6DE-275B-D02731BC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78" t="58246" r="43539" b="35395"/>
            <a:stretch>
              <a:fillRect/>
            </a:stretch>
          </p:blipFill>
          <p:spPr>
            <a:xfrm>
              <a:off x="5664386" y="4210092"/>
              <a:ext cx="767748" cy="218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4797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5090E-9FF6-14B6-CDB3-2FCFF9256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522658-5A41-780C-0B9E-75DBAE625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4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378F3C-0ADD-E24F-AE43-E09DE89F9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Objective 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5ECF3-51C2-C761-02E0-903FF40129BA}"/>
              </a:ext>
            </a:extLst>
          </p:cNvPr>
          <p:cNvSpPr txBox="1"/>
          <p:nvPr/>
        </p:nvSpPr>
        <p:spPr>
          <a:xfrm>
            <a:off x="427676" y="1818039"/>
            <a:ext cx="7310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Gain From Trade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059835-A87F-3CF9-7093-FA7F2ABC98B2}"/>
                  </a:ext>
                </a:extLst>
              </p:cNvPr>
              <p:cNvSpPr txBox="1"/>
              <p:nvPr/>
            </p:nvSpPr>
            <p:spPr>
              <a:xfrm>
                <a:off x="427676" y="3085626"/>
                <a:ext cx="7310643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Social Welfare   =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𝑆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𝑛𝑜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</m:e>
                          <m:e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𝐵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</m:e>
                        </m:eqArr>
                      </m:e>
                    </m:d>
                  </m:oMath>
                </a14:m>
                <a:endParaRPr lang="en-GB" i="1" dirty="0">
                  <a:solidFill>
                    <a:srgbClr val="000000"/>
                  </a:solidFill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059835-A87F-3CF9-7093-FA7F2AB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76" y="3085626"/>
                <a:ext cx="7310643" cy="710194"/>
              </a:xfrm>
              <a:prstGeom prst="rect">
                <a:avLst/>
              </a:prstGeom>
              <a:blipFill>
                <a:blip r:embed="rId3"/>
                <a:stretch>
                  <a:fillRect t="-186207" b="-270690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3646365E-9B0D-0B1A-7910-D2FB28DB3CF5}"/>
              </a:ext>
            </a:extLst>
          </p:cNvPr>
          <p:cNvGrpSpPr/>
          <p:nvPr/>
        </p:nvGrpSpPr>
        <p:grpSpPr>
          <a:xfrm>
            <a:off x="7738319" y="2319008"/>
            <a:ext cx="3827717" cy="2953624"/>
            <a:chOff x="8092668" y="3607905"/>
            <a:chExt cx="3267777" cy="2381180"/>
          </a:xfrm>
        </p:grpSpPr>
        <p:pic>
          <p:nvPicPr>
            <p:cNvPr id="13" name="Picture 12" descr="A blue and white graph&#10;&#10;AI-generated content may be incorrect.">
              <a:extLst>
                <a:ext uri="{FF2B5EF4-FFF2-40B4-BE49-F238E27FC236}">
                  <a16:creationId xmlns:a16="http://schemas.microsoft.com/office/drawing/2014/main" id="{8A10A67C-15CB-9256-3ABD-DEA9FABB7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7" b="5687"/>
            <a:stretch>
              <a:fillRect/>
            </a:stretch>
          </p:blipFill>
          <p:spPr>
            <a:xfrm>
              <a:off x="8540115" y="3932159"/>
              <a:ext cx="2491564" cy="205692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1470F14-AF99-1952-EAA9-9A3395AF6D65}"/>
                    </a:ext>
                  </a:extLst>
                </p:cNvPr>
                <p:cNvSpPr txBox="1"/>
                <p:nvPr/>
              </p:nvSpPr>
              <p:spPr>
                <a:xfrm>
                  <a:off x="8092668" y="3607905"/>
                  <a:ext cx="3267777" cy="27293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spcAft>
                      <a:spcPts val="600"/>
                    </a:spcAft>
                  </a:pPr>
                  <a:r>
                    <a:rPr lang="en-GB" sz="1600" b="1" i="1" dirty="0">
                      <a:solidFill>
                        <a:srgbClr val="213552"/>
                      </a:solidFill>
                    </a:rPr>
                    <a:t>Expected GFT associated to </a:t>
                  </a:r>
                  <a14:m>
                    <m:oMath xmlns:m="http://schemas.openxmlformats.org/officeDocument/2006/math">
                      <m:r>
                        <a:rPr lang="en-GB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GB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GB" sz="1600" b="1" i="1" dirty="0">
                    <a:solidFill>
                      <a:srgbClr val="21355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1470F14-AF99-1952-EAA9-9A3395AF6D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2668" y="3607905"/>
                  <a:ext cx="3267777" cy="272939"/>
                </a:xfrm>
                <a:prstGeom prst="rect">
                  <a:avLst/>
                </a:prstGeom>
                <a:blipFill>
                  <a:blip r:embed="rId5"/>
                  <a:stretch>
                    <a:fillRect t="-3571" b="-21429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AEB6F6-28C4-7B28-FBF4-1AAA3AFC51B9}"/>
                  </a:ext>
                </a:extLst>
              </p:cNvPr>
              <p:cNvSpPr txBox="1"/>
              <p:nvPr/>
            </p:nvSpPr>
            <p:spPr>
              <a:xfrm>
                <a:off x="427677" y="4259469"/>
                <a:ext cx="7310642" cy="778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sz="2400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Gain </a:t>
                </a:r>
                <a:r>
                  <a:rPr lang="it-IT" sz="2400" i="1" dirty="0">
                    <a:solidFill>
                      <a:srgbClr val="000000"/>
                    </a:solidFill>
                    <a:cs typeface="Calibri" panose="020F0502020204030204" pitchFamily="34" charset="0"/>
                  </a:rPr>
                  <a:t>From Trade   </a:t>
                </a:r>
                <a:r>
                  <a:rPr lang="it-IT" sz="2000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=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0              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𝑛𝑜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</m:e>
                          <m:e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𝐵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𝑆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</m:t>
                            </m:r>
                          </m:e>
                        </m:eqArr>
                      </m:e>
                    </m:d>
                    <m:r>
                      <a:rPr lang="it-IT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2000" i="1" dirty="0">
                  <a:solidFill>
                    <a:srgbClr val="000000"/>
                  </a:solidFill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AEB6F6-28C4-7B28-FBF4-1AAA3AFC5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77" y="4259469"/>
                <a:ext cx="7310642" cy="778868"/>
              </a:xfrm>
              <a:prstGeom prst="rect">
                <a:avLst/>
              </a:prstGeom>
              <a:blipFill>
                <a:blip r:embed="rId6"/>
                <a:stretch>
                  <a:fillRect t="-195161" b="-283871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9872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332EF-4F70-A3BB-3478-452562C8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139845-691B-FBA7-019E-462F8D7F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5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38FA8D-2FF1-94D4-DCC7-04D44633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Global Budget Balance</a:t>
            </a:r>
          </a:p>
        </p:txBody>
      </p:sp>
      <p:pic>
        <p:nvPicPr>
          <p:cNvPr id="5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3293794" y="2382532"/>
            <a:ext cx="5604401" cy="20929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00D9D6-DDC7-FA60-5492-A394F3031E22}"/>
              </a:ext>
            </a:extLst>
          </p:cNvPr>
          <p:cNvSpPr txBox="1"/>
          <p:nvPr/>
        </p:nvSpPr>
        <p:spPr>
          <a:xfrm>
            <a:off x="2952631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Budget Balance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FEEF5-E9D0-F15F-D41D-6C44C6D6690F}"/>
              </a:ext>
            </a:extLst>
          </p:cNvPr>
          <p:cNvSpPr txBox="1"/>
          <p:nvPr/>
        </p:nvSpPr>
        <p:spPr>
          <a:xfrm>
            <a:off x="2302867" y="4714242"/>
            <a:ext cx="7586256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Bernasconi et al. (2024)</a:t>
            </a:r>
          </a:p>
          <a:p>
            <a:pPr algn="ctr">
              <a:buNone/>
            </a:pPr>
            <a:r>
              <a:rPr lang="en-GB" i="1" dirty="0">
                <a:solidFill>
                  <a:srgbClr val="000000"/>
                </a:solidFill>
                <a:effectLst/>
              </a:rPr>
              <a:t>“Is it possible to achieve sublinear regret in the adversarial setting </a:t>
            </a:r>
            <a:r>
              <a:rPr lang="en-GB" i="1" dirty="0">
                <a:solidFill>
                  <a:srgbClr val="000000"/>
                </a:solidFill>
              </a:rPr>
              <a:t>u</a:t>
            </a:r>
            <a:r>
              <a:rPr lang="en-GB" i="1" dirty="0">
                <a:solidFill>
                  <a:srgbClr val="000000"/>
                </a:solidFill>
                <a:effectLst/>
              </a:rPr>
              <a:t>nder a reasonable notion of budget balance?”</a:t>
            </a:r>
          </a:p>
        </p:txBody>
      </p:sp>
    </p:spTree>
    <p:extLst>
      <p:ext uri="{BB962C8B-B14F-4D97-AF65-F5344CB8AC3E}">
        <p14:creationId xmlns:p14="http://schemas.microsoft.com/office/powerpoint/2010/main" val="2541077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F78C1-EAF2-1019-F438-BF52307B2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7E8AB4-F472-7764-9694-B05CD33D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A233CC-CE34-04E7-6160-1BD3D234F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 new benchmark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2CC93-41C9-23BD-456E-5CF4E9CE70E5}"/>
              </a:ext>
            </a:extLst>
          </p:cNvPr>
          <p:cNvGrpSpPr/>
          <p:nvPr/>
        </p:nvGrpSpPr>
        <p:grpSpPr>
          <a:xfrm>
            <a:off x="707518" y="2185501"/>
            <a:ext cx="5507428" cy="2495363"/>
            <a:chOff x="718728" y="1657343"/>
            <a:chExt cx="6026418" cy="251231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0DA5B9B-90C3-C4E8-137D-7D552264DA7C}"/>
                </a:ext>
              </a:extLst>
            </p:cNvPr>
            <p:cNvSpPr txBox="1"/>
            <p:nvPr/>
          </p:nvSpPr>
          <p:spPr>
            <a:xfrm>
              <a:off x="718728" y="1657343"/>
              <a:ext cx="6026418" cy="7126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Distributional Benchmark </a:t>
              </a:r>
            </a:p>
          </p:txBody>
        </p:sp>
        <p:pic>
          <p:nvPicPr>
            <p:cNvPr id="11" name="Picture 10" descr="A close-up of a math formula&#10;&#10;AI-generated content may be incorrect.">
              <a:extLst>
                <a:ext uri="{FF2B5EF4-FFF2-40B4-BE49-F238E27FC236}">
                  <a16:creationId xmlns:a16="http://schemas.microsoft.com/office/drawing/2014/main" id="{5BC3E00B-20E6-E54C-FCCA-4D2177D2B0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0337" y="2785355"/>
              <a:ext cx="5283200" cy="13843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D915258-ABFE-8B9A-D073-4085D7845277}"/>
              </a:ext>
            </a:extLst>
          </p:cNvPr>
          <p:cNvGrpSpPr/>
          <p:nvPr/>
        </p:nvGrpSpPr>
        <p:grpSpPr>
          <a:xfrm>
            <a:off x="7233993" y="1641700"/>
            <a:ext cx="3980959" cy="4185325"/>
            <a:chOff x="7261186" y="1585944"/>
            <a:chExt cx="3980959" cy="418532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281F999-4E77-343F-2278-0ED98E4AB709}"/>
                </a:ext>
              </a:extLst>
            </p:cNvPr>
            <p:cNvGrpSpPr/>
            <p:nvPr/>
          </p:nvGrpSpPr>
          <p:grpSpPr>
            <a:xfrm>
              <a:off x="7261186" y="1585944"/>
              <a:ext cx="3980959" cy="1120210"/>
              <a:chOff x="7093918" y="1585944"/>
              <a:chExt cx="3980959" cy="1120210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42CFA7-91C8-38B8-B147-032F96E7EB43}"/>
                  </a:ext>
                </a:extLst>
              </p:cNvPr>
              <p:cNvSpPr txBox="1"/>
              <p:nvPr/>
            </p:nvSpPr>
            <p:spPr>
              <a:xfrm>
                <a:off x="7575657" y="1585944"/>
                <a:ext cx="30174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GB" sz="2000" i="1" dirty="0">
                    <a:solidFill>
                      <a:srgbClr val="213552"/>
                    </a:solidFill>
                  </a:rPr>
                  <a:t>Strictly stronger – A sketch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B0C3DD-A6E2-0D22-58FA-EAB131767CAA}"/>
                  </a:ext>
                </a:extLst>
              </p:cNvPr>
              <p:cNvSpPr txBox="1"/>
              <p:nvPr/>
            </p:nvSpPr>
            <p:spPr>
              <a:xfrm>
                <a:off x="7093918" y="2121379"/>
                <a:ext cx="398095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600" i="1" dirty="0">
                    <a:solidFill>
                      <a:srgbClr val="000000"/>
                    </a:solidFill>
                    <a:effectLst/>
                  </a:rPr>
                  <a:t>This benchmark is surely not weaker than th</a:t>
                </a:r>
                <a:r>
                  <a:rPr lang="en-GB" sz="1600" i="1" dirty="0">
                    <a:solidFill>
                      <a:srgbClr val="000000"/>
                    </a:solidFill>
                  </a:rPr>
                  <a:t>e best fixed price, and strictly stronger.</a:t>
                </a:r>
              </a:p>
            </p:txBody>
          </p:sp>
        </p:grpSp>
        <p:pic>
          <p:nvPicPr>
            <p:cNvPr id="8" name="Picture 7" descr="A graph with a red dot and blue dots&#10;&#10;AI-generated content may be incorrect.">
              <a:extLst>
                <a:ext uri="{FF2B5EF4-FFF2-40B4-BE49-F238E27FC236}">
                  <a16:creationId xmlns:a16="http://schemas.microsoft.com/office/drawing/2014/main" id="{C3FC1C82-CB94-4C45-B056-782C8F173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8641" y="2976804"/>
              <a:ext cx="3666051" cy="27944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1136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EAE8E-B3D5-2B52-4BAB-0D21F3E1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B6294F-6977-5970-95B1-707C183F6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7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B8DEA2-07BC-31BF-92AF-6BD655BB7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theoretical work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71005B-7B45-412D-786F-8F0DB770082C}"/>
              </a:ext>
            </a:extLst>
          </p:cNvPr>
          <p:cNvGrpSpPr/>
          <p:nvPr/>
        </p:nvGrpSpPr>
        <p:grpSpPr>
          <a:xfrm>
            <a:off x="494669" y="1456845"/>
            <a:ext cx="5995342" cy="4303680"/>
            <a:chOff x="105355" y="1294438"/>
            <a:chExt cx="6192644" cy="430368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62E102-D161-911F-3FE1-678576070230}"/>
                </a:ext>
              </a:extLst>
            </p:cNvPr>
            <p:cNvSpPr txBox="1"/>
            <p:nvPr/>
          </p:nvSpPr>
          <p:spPr>
            <a:xfrm>
              <a:off x="105355" y="1294438"/>
              <a:ext cx="619264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Stochastic Environment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3EABD0F-B511-63F8-ECC6-07D5FF8D5C44}"/>
                    </a:ext>
                  </a:extLst>
                </p:cNvPr>
                <p:cNvSpPr txBox="1"/>
                <p:nvPr/>
              </p:nvSpPr>
              <p:spPr>
                <a:xfrm>
                  <a:off x="559767" y="2236613"/>
                  <a:ext cx="528381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A sequence of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i.i.d.</a:t>
                  </a:r>
                  <a14:m>
                    <m:oMath xmlns:m="http://schemas.openxmlformats.org/officeDocument/2006/math"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pairs over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[0,1]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endParaRPr lang="it-IT" b="0" i="1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3EABD0F-B511-63F8-ECC6-07D5FF8D5C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67" y="2236613"/>
                  <a:ext cx="5283819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0345" b="-27586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Picture 17" descr="A diagram of a point&#10;&#10;AI-generated content may be incorrect.">
              <a:extLst>
                <a:ext uri="{FF2B5EF4-FFF2-40B4-BE49-F238E27FC236}">
                  <a16:creationId xmlns:a16="http://schemas.microsoft.com/office/drawing/2014/main" id="{FDAFC1C4-259C-2ABB-564B-C0BE4A7A5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41411" y="2872008"/>
              <a:ext cx="3468078" cy="2726110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BD824B6-4DA4-5C3B-F324-C81EA09A7653}"/>
                </a:ext>
              </a:extLst>
            </p:cNvPr>
            <p:cNvSpPr/>
            <p:nvPr/>
          </p:nvSpPr>
          <p:spPr>
            <a:xfrm>
              <a:off x="1187837" y="4156281"/>
              <a:ext cx="507149" cy="41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2EA68F7-F661-67C0-33A4-DE7FC989783E}"/>
              </a:ext>
            </a:extLst>
          </p:cNvPr>
          <p:cNvGrpSpPr/>
          <p:nvPr/>
        </p:nvGrpSpPr>
        <p:grpSpPr>
          <a:xfrm>
            <a:off x="6787253" y="2220859"/>
            <a:ext cx="4991100" cy="2520455"/>
            <a:chOff x="6706231" y="1655161"/>
            <a:chExt cx="4991100" cy="25204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D5E293-61A8-B5B6-8087-6609FD5612A8}"/>
                </a:ext>
              </a:extLst>
            </p:cNvPr>
            <p:cNvSpPr txBox="1"/>
            <p:nvPr/>
          </p:nvSpPr>
          <p:spPr>
            <a:xfrm>
              <a:off x="6850156" y="1655161"/>
              <a:ext cx="4703250" cy="14003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Worst-case </a:t>
              </a:r>
            </a:p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Regret Analysis</a:t>
              </a:r>
            </a:p>
          </p:txBody>
        </p:sp>
        <p:pic>
          <p:nvPicPr>
            <p:cNvPr id="25" name="Picture 24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D0EE6B9F-4779-B2A9-3FB3-7E6085B74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6231" y="3261216"/>
              <a:ext cx="49911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5675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BE15F-393C-58BD-45D7-84A52B86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C4D05F-6DDF-8AA0-EBB9-C7BB032AD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8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284DA-6EE6-7191-73C0-0AA3D7A7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 overview of results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8C2877-D6B8-76EB-8B64-FFEFD945C24C}"/>
              </a:ext>
            </a:extLst>
          </p:cNvPr>
          <p:cNvGrpSpPr/>
          <p:nvPr/>
        </p:nvGrpSpPr>
        <p:grpSpPr>
          <a:xfrm>
            <a:off x="5018646" y="2543808"/>
            <a:ext cx="5995342" cy="1889776"/>
            <a:chOff x="650785" y="2542694"/>
            <a:chExt cx="5995342" cy="188977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6928E2-673F-AE8E-C70B-99B1E44D118C}"/>
                    </a:ext>
                  </a:extLst>
                </p:cNvPr>
                <p:cNvSpPr txBox="1"/>
                <p:nvPr/>
              </p:nvSpPr>
              <p:spPr>
                <a:xfrm>
                  <a:off x="1170642" y="3559923"/>
                  <a:ext cx="5152929" cy="87254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spcAft>
                      <a:spcPts val="600"/>
                    </a:spcAft>
                  </a:pPr>
                  <a:r>
                    <a:rPr lang="en-GB" sz="2400" i="1" dirty="0">
                      <a:solidFill>
                        <a:srgbClr val="000000"/>
                      </a:solidFill>
                      <a:effectLst/>
                      <a:cs typeface="Calibri" panose="020F0502020204030204" pitchFamily="34" charset="0"/>
                    </a:rPr>
                    <a:t>The provided algorithm achieves sublinear regret with rate </a:t>
                  </a:r>
                  <a14:m>
                    <m:oMath xmlns:m="http://schemas.openxmlformats.org/officeDocument/2006/math"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it-IT" sz="24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f>
                            <m:fPr>
                              <m:type m:val="skw"/>
                              <m:ctrlP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GB" sz="2400" i="1" dirty="0">
                    <a:solidFill>
                      <a:srgbClr val="000000"/>
                    </a:solidFill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6928E2-673F-AE8E-C70B-99B1E44D1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0642" y="3559923"/>
                  <a:ext cx="5152929" cy="872547"/>
                </a:xfrm>
                <a:prstGeom prst="rect">
                  <a:avLst/>
                </a:prstGeom>
                <a:blipFill>
                  <a:blip r:embed="rId3"/>
                  <a:stretch>
                    <a:fillRect t="-5797" b="-57971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CE3D351-391A-62CC-4009-A09DED054085}"/>
                </a:ext>
              </a:extLst>
            </p:cNvPr>
            <p:cNvSpPr txBox="1"/>
            <p:nvPr/>
          </p:nvSpPr>
          <p:spPr>
            <a:xfrm>
              <a:off x="650785" y="2542694"/>
              <a:ext cx="599534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Main result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D25C9C-FA42-8B30-1D85-7AE54DD77059}"/>
              </a:ext>
            </a:extLst>
          </p:cNvPr>
          <p:cNvGrpSpPr/>
          <p:nvPr/>
        </p:nvGrpSpPr>
        <p:grpSpPr>
          <a:xfrm>
            <a:off x="1212649" y="2543808"/>
            <a:ext cx="3302598" cy="1857799"/>
            <a:chOff x="4728644" y="2298274"/>
            <a:chExt cx="2734699" cy="26083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337CF7-B098-D978-C21B-895EFE5C0987}"/>
                </a:ext>
              </a:extLst>
            </p:cNvPr>
            <p:cNvSpPr txBox="1"/>
            <p:nvPr/>
          </p:nvSpPr>
          <p:spPr>
            <a:xfrm>
              <a:off x="4728644" y="2298274"/>
              <a:ext cx="2734699" cy="648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400" i="1" dirty="0">
                  <a:solidFill>
                    <a:srgbClr val="213552"/>
                  </a:solidFill>
                </a:rPr>
                <a:t>Problem setting recap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73510D-C7AF-C5C9-1348-0E0C77CB810D}"/>
                </a:ext>
              </a:extLst>
            </p:cNvPr>
            <p:cNvSpPr txBox="1"/>
            <p:nvPr/>
          </p:nvSpPr>
          <p:spPr>
            <a:xfrm>
              <a:off x="5094885" y="3242950"/>
              <a:ext cx="2002217" cy="16636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  <a:effectLst/>
                </a:rPr>
                <a:t>Stochastic environment</a:t>
              </a:r>
              <a:endParaRPr lang="en-GB" sz="1400" i="1" dirty="0">
                <a:solidFill>
                  <a:srgbClr val="000000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Realistic (one bit) feedback</a:t>
              </a: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Global Budget Balance</a:t>
              </a: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Distributional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8901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21DA0-6A25-96D4-72F8-9B34652A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E5DEB4-793B-ABE2-3478-5B00FBE78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9</a:t>
            </a:fld>
            <a:r>
              <a:rPr lang="it-IT" dirty="0"/>
              <a:t>/16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9C310-5147-495F-81CC-5C3EFB705F34}"/>
              </a:ext>
            </a:extLst>
          </p:cNvPr>
          <p:cNvSpPr txBox="1"/>
          <p:nvPr/>
        </p:nvSpPr>
        <p:spPr>
          <a:xfrm>
            <a:off x="2952635" y="2028868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Algorithm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3B2A78-E6EC-1BAB-8EBF-63C5E23B04C7}"/>
              </a:ext>
            </a:extLst>
          </p:cNvPr>
          <p:cNvGrpSpPr/>
          <p:nvPr/>
        </p:nvGrpSpPr>
        <p:grpSpPr>
          <a:xfrm>
            <a:off x="524646" y="3377524"/>
            <a:ext cx="11142696" cy="1198935"/>
            <a:chOff x="261346" y="2577185"/>
            <a:chExt cx="11382918" cy="121479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4C3EB89-504B-EFCC-83CB-D897803A4F3F}"/>
                </a:ext>
              </a:extLst>
            </p:cNvPr>
            <p:cNvSpPr txBox="1"/>
            <p:nvPr/>
          </p:nvSpPr>
          <p:spPr>
            <a:xfrm>
              <a:off x="546967" y="2611620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I. Budget Accumulation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8C376C-A3F1-9035-6552-0364359F9D71}"/>
                </a:ext>
              </a:extLst>
            </p:cNvPr>
            <p:cNvSpPr txBox="1"/>
            <p:nvPr/>
          </p:nvSpPr>
          <p:spPr>
            <a:xfrm>
              <a:off x="4665568" y="2588174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II. Pure Exploration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D5AD6DE-ECFB-46BD-31D2-95C0FE6E6988}"/>
                </a:ext>
              </a:extLst>
            </p:cNvPr>
            <p:cNvSpPr txBox="1"/>
            <p:nvPr/>
          </p:nvSpPr>
          <p:spPr>
            <a:xfrm>
              <a:off x="8725558" y="2577185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III. Optimization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F4DB5F8-26D0-3A5B-E4D1-B0226B60F80A}"/>
                    </a:ext>
                  </a:extLst>
                </p:cNvPr>
                <p:cNvSpPr txBox="1"/>
                <p:nvPr/>
              </p:nvSpPr>
              <p:spPr>
                <a:xfrm>
                  <a:off x="261346" y="3257819"/>
                  <a:ext cx="3432090" cy="3742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sz="1800" i="1" dirty="0"/>
                    <a:t>Collect a profit buffer </a:t>
                  </a:r>
                  <a14:m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it-IT" sz="1800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endParaRPr lang="en-GB" sz="1800" i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F4DB5F8-26D0-3A5B-E4D1-B0226B60F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346" y="3257819"/>
                  <a:ext cx="3432090" cy="374217"/>
                </a:xfrm>
                <a:prstGeom prst="rect">
                  <a:avLst/>
                </a:prstGeom>
                <a:blipFill>
                  <a:blip r:embed="rId3"/>
                  <a:stretch>
                    <a:fillRect t="-6452" b="-22581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A7EC3E4-9BDF-0E04-7051-F6ADF2AC805D}"/>
                    </a:ext>
                  </a:extLst>
                </p:cNvPr>
                <p:cNvSpPr txBox="1"/>
                <p:nvPr/>
              </p:nvSpPr>
              <p:spPr>
                <a:xfrm>
                  <a:off x="4500745" y="3137098"/>
                  <a:ext cx="3190493" cy="65488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i="1" dirty="0"/>
                    <a:t>E</a:t>
                  </a:r>
                  <a:r>
                    <a:rPr lang="en-GB" sz="1800" i="1" dirty="0"/>
                    <a:t>stimate the non-observable parts of </a:t>
                  </a:r>
                  <a14:m>
                    <m:oMath xmlns:m="http://schemas.openxmlformats.org/officeDocument/2006/math">
                      <m:r>
                        <a:rPr lang="en-GB" sz="1800" i="1" dirty="0" smtClean="0">
                          <a:latin typeface="Cambria Math" panose="02040503050406030204" pitchFamily="18" charset="0"/>
                        </a:rPr>
                        <m:t>𝐺𝐹</m:t>
                      </m:r>
                      <m:r>
                        <a:rPr lang="it-IT" sz="18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r>
                    <a:rPr lang="en-IT" i="1" dirty="0"/>
                    <a:t>.</a:t>
                  </a: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A7EC3E4-9BDF-0E04-7051-F6ADF2AC8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0745" y="3137098"/>
                  <a:ext cx="3190493" cy="654880"/>
                </a:xfrm>
                <a:prstGeom prst="rect">
                  <a:avLst/>
                </a:prstGeom>
                <a:blipFill>
                  <a:blip r:embed="rId4"/>
                  <a:stretch>
                    <a:fillRect t="-3846" b="-15385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7C5C58E-01BD-404C-5981-F6AA8AE8E64F}"/>
                </a:ext>
              </a:extLst>
            </p:cNvPr>
            <p:cNvSpPr txBox="1"/>
            <p:nvPr/>
          </p:nvSpPr>
          <p:spPr>
            <a:xfrm>
              <a:off x="8667701" y="3117487"/>
              <a:ext cx="2976563" cy="6548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i="1" dirty="0"/>
                <a:t>S</a:t>
              </a:r>
              <a:r>
                <a:rPr lang="en-GB" sz="1800" i="1" dirty="0"/>
                <a:t>olve the optimistic </a:t>
              </a:r>
              <a:r>
                <a:rPr lang="en-GB" i="1" dirty="0"/>
                <a:t>linear program</a:t>
              </a:r>
              <a:r>
                <a:rPr lang="en-IT" i="1" dirty="0"/>
                <a:t>.</a:t>
              </a:r>
            </a:p>
          </p:txBody>
        </p:sp>
      </p:grpSp>
      <p:sp>
        <p:nvSpPr>
          <p:cNvPr id="21" name="Title 20">
            <a:extLst>
              <a:ext uri="{FF2B5EF4-FFF2-40B4-BE49-F238E27FC236}">
                <a16:creationId xmlns:a16="http://schemas.microsoft.com/office/drawing/2014/main" id="{C4F0FA78-2332-94B2-4A11-A9B3CA78E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Three-Phase approach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324646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4F1AA-F541-2D35-F8E5-21C8599C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3E258B-F8F4-4747-4565-F01E39A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10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BC1A10-3436-315C-5C56-53D7D1088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 – Budget Accumulation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D95CD60-1A6B-6518-89E2-5EC8DEAACE1F}"/>
              </a:ext>
            </a:extLst>
          </p:cNvPr>
          <p:cNvGrpSpPr/>
          <p:nvPr/>
        </p:nvGrpSpPr>
        <p:grpSpPr>
          <a:xfrm>
            <a:off x="2408506" y="1861066"/>
            <a:ext cx="7550832" cy="3411414"/>
            <a:chOff x="2468287" y="1861066"/>
            <a:chExt cx="7550832" cy="3411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589BA2F-6DD4-4E59-50EA-C090E68D8376}"/>
                </a:ext>
              </a:extLst>
            </p:cNvPr>
            <p:cNvGrpSpPr/>
            <p:nvPr/>
          </p:nvGrpSpPr>
          <p:grpSpPr>
            <a:xfrm>
              <a:off x="7076626" y="1861066"/>
              <a:ext cx="2942493" cy="3411414"/>
              <a:chOff x="8115642" y="1857273"/>
              <a:chExt cx="3481995" cy="3824636"/>
            </a:xfrm>
          </p:grpSpPr>
          <p:pic>
            <p:nvPicPr>
              <p:cNvPr id="8" name="Picture 7" descr="A diagram of a graph&#10;&#10;AI-generated content may be incorrect.">
                <a:extLst>
                  <a:ext uri="{FF2B5EF4-FFF2-40B4-BE49-F238E27FC236}">
                    <a16:creationId xmlns:a16="http://schemas.microsoft.com/office/drawing/2014/main" id="{685EA3A5-0BEE-B93F-759A-C773AB0B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15642" y="2323071"/>
                <a:ext cx="3481995" cy="3358838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D4F4587-34C6-24DB-AABF-F15E353E9E51}"/>
                      </a:ext>
                    </a:extLst>
                  </p:cNvPr>
                  <p:cNvSpPr txBox="1"/>
                  <p:nvPr/>
                </p:nvSpPr>
                <p:spPr>
                  <a:xfrm>
                    <a:off x="8284744" y="1857273"/>
                    <a:ext cx="3143790" cy="40364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GB" sz="2000" b="1" i="1" dirty="0">
                        <a:solidFill>
                          <a:srgbClr val="213552"/>
                        </a:solidFill>
                      </a:rPr>
                      <a:t>Multiplicative grid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it-IT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  <m:t>𝑲</m:t>
                            </m:r>
                          </m:sub>
                        </m:sSub>
                      </m:oMath>
                    </a14:m>
                    <a:r>
                      <a:rPr lang="en-GB" sz="2000" b="1" i="1" dirty="0">
                        <a:solidFill>
                          <a:srgbClr val="21355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D4F4587-34C6-24DB-AABF-F15E353E9E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84744" y="1857273"/>
                    <a:ext cx="3143790" cy="40364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897" b="-41379"/>
                    </a:stretch>
                  </a:blipFill>
                </p:spPr>
                <p:txBody>
                  <a:bodyPr/>
                  <a:lstStyle/>
                  <a:p>
                    <a:r>
                      <a:rPr lang="en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71FB739-6AEA-AD1D-A7BE-D595B33B10D5}"/>
                </a:ext>
              </a:extLst>
            </p:cNvPr>
            <p:cNvGrpSpPr/>
            <p:nvPr/>
          </p:nvGrpSpPr>
          <p:grpSpPr>
            <a:xfrm>
              <a:off x="2468287" y="2917467"/>
              <a:ext cx="3119037" cy="1546536"/>
              <a:chOff x="2108984" y="2659559"/>
              <a:chExt cx="3119037" cy="1546536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203BEF1-1352-FAC2-E5F3-4CDA9594A70E}"/>
                  </a:ext>
                </a:extLst>
              </p:cNvPr>
              <p:cNvSpPr txBox="1"/>
              <p:nvPr/>
            </p:nvSpPr>
            <p:spPr>
              <a:xfrm>
                <a:off x="2392318" y="2659559"/>
                <a:ext cx="2491507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GB" sz="4400" b="1" i="1" dirty="0">
                    <a:solidFill>
                      <a:srgbClr val="213552"/>
                    </a:solidFill>
                    <a:latin typeface="+mj-lt"/>
                  </a:rPr>
                  <a:t>Phase I</a:t>
                </a:r>
              </a:p>
            </p:txBody>
          </p: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8A10CFB2-DCCF-9946-0369-61438D01189C}"/>
                  </a:ext>
                </a:extLst>
              </p:cNvPr>
              <p:cNvGrpSpPr/>
              <p:nvPr/>
            </p:nvGrpSpPr>
            <p:grpSpPr>
              <a:xfrm>
                <a:off x="2108984" y="3475067"/>
                <a:ext cx="3119037" cy="731028"/>
                <a:chOff x="-462675" y="3861150"/>
                <a:chExt cx="3119037" cy="731028"/>
              </a:xfrm>
            </p:grpSpPr>
            <p:sp>
              <p:nvSpPr>
                <p:cNvPr id="6" name="Rectangle 1">
                  <a:extLst>
                    <a:ext uri="{FF2B5EF4-FFF2-40B4-BE49-F238E27FC236}">
                      <a16:creationId xmlns:a16="http://schemas.microsoft.com/office/drawing/2014/main" id="{92EF5D93-3D42-57F8-E80F-6534C55DB5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62675" y="3994431"/>
                  <a:ext cx="1019634" cy="36933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IT" altLang="en-IT" i="1" dirty="0">
                      <a:solidFill>
                        <a:srgbClr val="00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Regret:</a:t>
                  </a:r>
                </a:p>
              </p:txBody>
            </p:sp>
            <p:pic>
              <p:nvPicPr>
                <p:cNvPr id="7" name="Picture 6" descr="A black text with a white background&#10;&#10;AI-generated content may be incorrect.">
                  <a:extLst>
                    <a:ext uri="{FF2B5EF4-FFF2-40B4-BE49-F238E27FC236}">
                      <a16:creationId xmlns:a16="http://schemas.microsoft.com/office/drawing/2014/main" id="{D429E243-872C-C543-549B-63E266A636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2897"/>
                <a:stretch>
                  <a:fillRect/>
                </a:stretch>
              </p:blipFill>
              <p:spPr>
                <a:xfrm>
                  <a:off x="605599" y="3861150"/>
                  <a:ext cx="2050763" cy="731028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2770587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83934-2D4D-8FC3-6F47-2CE9A5CC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A3543A-0B9B-4745-3C04-EF53A8EE8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11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80D3FA-54CB-F050-D432-1FFBB4D7D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II – Pure Exploration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537A28-012A-ED78-2F1E-E8AF143F6A6D}"/>
              </a:ext>
            </a:extLst>
          </p:cNvPr>
          <p:cNvGrpSpPr/>
          <p:nvPr/>
        </p:nvGrpSpPr>
        <p:grpSpPr>
          <a:xfrm>
            <a:off x="2886490" y="3807227"/>
            <a:ext cx="2102206" cy="371294"/>
            <a:chOff x="1830274" y="2800439"/>
            <a:chExt cx="2102206" cy="371294"/>
          </a:xfrm>
        </p:grpSpPr>
        <p:pic>
          <p:nvPicPr>
            <p:cNvPr id="18" name="Picture 17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9A2A4CEB-2B3F-820B-14BF-71DDF3374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836" t="22222"/>
            <a:stretch>
              <a:fillRect/>
            </a:stretch>
          </p:blipFill>
          <p:spPr>
            <a:xfrm>
              <a:off x="3021081" y="2812162"/>
              <a:ext cx="911399" cy="359571"/>
            </a:xfrm>
            <a:prstGeom prst="rect">
              <a:avLst/>
            </a:prstGeom>
          </p:spPr>
        </p:pic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1E08E988-541F-9379-6780-37132E3F7B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0274" y="2800439"/>
              <a:ext cx="1019634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IT" altLang="en-IT" i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Regret: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5EDCF29B-4D35-4CD8-EE42-8F146A093559}"/>
              </a:ext>
            </a:extLst>
          </p:cNvPr>
          <p:cNvSpPr txBox="1"/>
          <p:nvPr/>
        </p:nvSpPr>
        <p:spPr>
          <a:xfrm>
            <a:off x="2691840" y="2917467"/>
            <a:ext cx="24915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Phase II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ABD6863-82E0-3B94-7813-C1A294D34EAC}"/>
              </a:ext>
            </a:extLst>
          </p:cNvPr>
          <p:cNvGrpSpPr/>
          <p:nvPr/>
        </p:nvGrpSpPr>
        <p:grpSpPr>
          <a:xfrm>
            <a:off x="6422571" y="1756558"/>
            <a:ext cx="4074217" cy="3584369"/>
            <a:chOff x="6368143" y="1815406"/>
            <a:chExt cx="4074217" cy="358436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250A3C-A61E-8F1F-4643-BDE10EF5DC94}"/>
                </a:ext>
              </a:extLst>
            </p:cNvPr>
            <p:cNvGrpSpPr/>
            <p:nvPr/>
          </p:nvGrpSpPr>
          <p:grpSpPr>
            <a:xfrm>
              <a:off x="7380001" y="3153163"/>
              <a:ext cx="2120159" cy="2246612"/>
              <a:chOff x="7293350" y="1900885"/>
              <a:chExt cx="3113162" cy="3622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EFCA169-991E-2C17-DFB4-EF792B46654F}"/>
                      </a:ext>
                    </a:extLst>
                  </p:cNvPr>
                  <p:cNvSpPr txBox="1"/>
                  <p:nvPr/>
                </p:nvSpPr>
                <p:spPr>
                  <a:xfrm>
                    <a:off x="7517425" y="1900885"/>
                    <a:ext cx="2805583" cy="5954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it-IT" b="1" i="1" dirty="0">
                        <a:solidFill>
                          <a:srgbClr val="213552"/>
                        </a:solidFill>
                      </a:rPr>
                      <a:t>Probing </a:t>
                    </a:r>
                    <a14:m>
                      <m:oMath xmlns:m="http://schemas.openxmlformats.org/officeDocument/2006/math"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GB" b="1" i="1" dirty="0">
                      <a:solidFill>
                        <a:srgbClr val="21355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EFCA169-991E-2C17-DFB4-EF792B4665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17425" y="1900885"/>
                    <a:ext cx="2805583" cy="5954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5" name="Picture 24" descr="A graph with a dotted line&#10;&#10;AI-generated content may be incorrect.">
                <a:extLst>
                  <a:ext uri="{FF2B5EF4-FFF2-40B4-BE49-F238E27FC236}">
                    <a16:creationId xmlns:a16="http://schemas.microsoft.com/office/drawing/2014/main" id="{6B40FA69-ABAC-B226-26F0-B3117DC4EE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93350" y="2496349"/>
                <a:ext cx="3113162" cy="3026686"/>
              </a:xfrm>
              <a:prstGeom prst="rect">
                <a:avLst/>
              </a:prstGeom>
            </p:spPr>
          </p:pic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191A7E2-8DF4-03B5-A468-6B2D0F487DB2}"/>
                </a:ext>
              </a:extLst>
            </p:cNvPr>
            <p:cNvGrpSpPr/>
            <p:nvPr/>
          </p:nvGrpSpPr>
          <p:grpSpPr>
            <a:xfrm>
              <a:off x="6368143" y="1815406"/>
              <a:ext cx="4074217" cy="917433"/>
              <a:chOff x="6685037" y="4718002"/>
              <a:chExt cx="4074217" cy="917433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E834D6EF-23C6-120E-F51D-7CBA0270D6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85037" y="5307242"/>
                <a:ext cx="4074217" cy="328193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52F5F9-7381-BC5B-1203-40593B051246}"/>
                  </a:ext>
                </a:extLst>
              </p:cNvPr>
              <p:cNvSpPr txBox="1"/>
              <p:nvPr/>
            </p:nvSpPr>
            <p:spPr>
              <a:xfrm>
                <a:off x="7549503" y="4718002"/>
                <a:ext cx="235649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sz="2000" b="1" i="1" dirty="0">
                    <a:solidFill>
                      <a:srgbClr val="213552"/>
                    </a:solidFill>
                  </a:rPr>
                  <a:t>Unbiased estimator</a:t>
                </a:r>
                <a:endParaRPr lang="en-GB" sz="2000" b="1" i="1" dirty="0">
                  <a:solidFill>
                    <a:srgbClr val="213552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358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71674-961C-5D5B-1D42-FA6DCE417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5DA614-7BC7-A0DE-3D75-5037D7BF1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12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DCEA14-D35A-3AA8-7385-A353A806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III – Optimization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9AC2A7-9C52-2D9E-FA6A-F81507E36B3E}"/>
              </a:ext>
            </a:extLst>
          </p:cNvPr>
          <p:cNvGrpSpPr/>
          <p:nvPr/>
        </p:nvGrpSpPr>
        <p:grpSpPr>
          <a:xfrm>
            <a:off x="5407222" y="2449361"/>
            <a:ext cx="5847253" cy="1959277"/>
            <a:chOff x="1069684" y="2361530"/>
            <a:chExt cx="5847253" cy="1959277"/>
          </a:xfrm>
        </p:grpSpPr>
        <p:pic>
          <p:nvPicPr>
            <p:cNvPr id="16" name="Picture 15" descr="A math equations on a white background&#10;&#10;AI-generated content may be incorrect.">
              <a:extLst>
                <a:ext uri="{FF2B5EF4-FFF2-40B4-BE49-F238E27FC236}">
                  <a16:creationId xmlns:a16="http://schemas.microsoft.com/office/drawing/2014/main" id="{63B02A51-ADCB-AF1A-0C10-9828F4132E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9684" y="3080646"/>
              <a:ext cx="5847253" cy="1240161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1FE5AC-5C17-449C-0D3D-949E5FF68C85}"/>
                </a:ext>
              </a:extLst>
            </p:cNvPr>
            <p:cNvSpPr txBox="1"/>
            <p:nvPr/>
          </p:nvSpPr>
          <p:spPr>
            <a:xfrm>
              <a:off x="2867275" y="2361530"/>
              <a:ext cx="231583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b="1" i="1" dirty="0">
                  <a:solidFill>
                    <a:srgbClr val="213552"/>
                  </a:solidFill>
                </a:rPr>
                <a:t>Optimistic LP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34AF3A6-AC42-6D4E-1C33-221985952A3F}"/>
              </a:ext>
            </a:extLst>
          </p:cNvPr>
          <p:cNvGrpSpPr/>
          <p:nvPr/>
        </p:nvGrpSpPr>
        <p:grpSpPr>
          <a:xfrm>
            <a:off x="1261859" y="2917467"/>
            <a:ext cx="3232799" cy="1446915"/>
            <a:chOff x="2445887" y="2917467"/>
            <a:chExt cx="3232799" cy="144691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321A9B0-0EB0-677C-B1AE-A1081956904C}"/>
                </a:ext>
              </a:extLst>
            </p:cNvPr>
            <p:cNvGrpSpPr/>
            <p:nvPr/>
          </p:nvGrpSpPr>
          <p:grpSpPr>
            <a:xfrm>
              <a:off x="2445887" y="3699685"/>
              <a:ext cx="3232799" cy="664697"/>
              <a:chOff x="7730916" y="3082027"/>
              <a:chExt cx="3232799" cy="664697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3E2F4E6C-7C78-079A-6672-19DF8940B0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594" b="-3614"/>
              <a:stretch>
                <a:fillRect/>
              </a:stretch>
            </p:blipFill>
            <p:spPr>
              <a:xfrm>
                <a:off x="8783380" y="3082027"/>
                <a:ext cx="2180335" cy="664697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B8D1B18-857C-623A-E4F4-91F9C1A344F4}"/>
                  </a:ext>
                </a:extLst>
              </p:cNvPr>
              <p:cNvSpPr txBox="1"/>
              <p:nvPr/>
            </p:nvSpPr>
            <p:spPr>
              <a:xfrm>
                <a:off x="7730916" y="3211745"/>
                <a:ext cx="8988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T" altLang="en-IT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Regret</a:t>
                </a:r>
                <a:r>
                  <a:rPr lang="en-IT" altLang="en-IT" sz="14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C2A795-337D-EBB9-F1CB-A13C8B9507F3}"/>
                </a:ext>
              </a:extLst>
            </p:cNvPr>
            <p:cNvSpPr txBox="1"/>
            <p:nvPr/>
          </p:nvSpPr>
          <p:spPr>
            <a:xfrm>
              <a:off x="2691840" y="2917467"/>
              <a:ext cx="249150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Phase III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377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81E0-093A-7401-D3DC-EF9E05D02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2B2991-0F24-2483-E6AA-B9FBF0E39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13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EED58A-60DD-948A-760D-B1C3F5AD7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Parameters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D73F91-876B-A07A-4277-02102B5DE52E}"/>
              </a:ext>
            </a:extLst>
          </p:cNvPr>
          <p:cNvSpPr txBox="1"/>
          <p:nvPr/>
        </p:nvSpPr>
        <p:spPr>
          <a:xfrm>
            <a:off x="2952631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Parameters choice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DF8828E-CCC5-24AE-61C9-F79409E14621}"/>
              </a:ext>
            </a:extLst>
          </p:cNvPr>
          <p:cNvGrpSpPr/>
          <p:nvPr/>
        </p:nvGrpSpPr>
        <p:grpSpPr>
          <a:xfrm>
            <a:off x="6675996" y="2883759"/>
            <a:ext cx="2938511" cy="1273686"/>
            <a:chOff x="1239506" y="2337442"/>
            <a:chExt cx="3014822" cy="1273686"/>
          </a:xfrm>
        </p:grpSpPr>
        <p:pic>
          <p:nvPicPr>
            <p:cNvPr id="7" name="Picture 6" descr="A math symbols with a plus and t&#10;&#10;AI-generated content may be incorrect.">
              <a:extLst>
                <a:ext uri="{FF2B5EF4-FFF2-40B4-BE49-F238E27FC236}">
                  <a16:creationId xmlns:a16="http://schemas.microsoft.com/office/drawing/2014/main" id="{6CDC61B4-0852-F072-6069-2F5751E04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9506" y="2884665"/>
              <a:ext cx="3014822" cy="72646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B58D51-8DC4-6368-BAC1-DFB7D15C96FA}"/>
                </a:ext>
              </a:extLst>
            </p:cNvPr>
            <p:cNvSpPr txBox="1"/>
            <p:nvPr/>
          </p:nvSpPr>
          <p:spPr>
            <a:xfrm>
              <a:off x="1239506" y="2337442"/>
              <a:ext cx="30148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i="1" dirty="0">
                  <a:solidFill>
                    <a:srgbClr val="213552"/>
                  </a:solidFill>
                </a:rPr>
                <a:t>Regret of Phases II and III</a:t>
              </a:r>
              <a:endParaRPr lang="en-GB" sz="2000" i="1" dirty="0">
                <a:solidFill>
                  <a:srgbClr val="21355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5E0CE78-B909-FF05-598F-107EB99B4796}"/>
              </a:ext>
            </a:extLst>
          </p:cNvPr>
          <p:cNvGrpSpPr/>
          <p:nvPr/>
        </p:nvGrpSpPr>
        <p:grpSpPr>
          <a:xfrm>
            <a:off x="2781436" y="2883759"/>
            <a:ext cx="2734569" cy="1363921"/>
            <a:chOff x="8081556" y="2439779"/>
            <a:chExt cx="2805584" cy="1453765"/>
          </a:xfrm>
        </p:grpSpPr>
        <p:pic>
          <p:nvPicPr>
            <p:cNvPr id="9" name="Picture 8" descr="A black square root of a square and a square of a square&#10;&#10;AI-generated content may be incorrect.">
              <a:extLst>
                <a:ext uri="{FF2B5EF4-FFF2-40B4-BE49-F238E27FC236}">
                  <a16:creationId xmlns:a16="http://schemas.microsoft.com/office/drawing/2014/main" id="{F2DAE24C-2F2A-3146-777C-FE6A72F6F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82598" y="2966444"/>
              <a:ext cx="2603500" cy="9271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98CCC-AE8D-B6C3-229D-C81B9AB642EC}"/>
                </a:ext>
              </a:extLst>
            </p:cNvPr>
            <p:cNvSpPr txBox="1"/>
            <p:nvPr/>
          </p:nvSpPr>
          <p:spPr>
            <a:xfrm>
              <a:off x="8081556" y="2439779"/>
              <a:ext cx="2805584" cy="4264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i="1" dirty="0">
                  <a:solidFill>
                    <a:srgbClr val="213552"/>
                  </a:solidFill>
                </a:rPr>
                <a:t>Regret of Phase I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0B5DC5-18F8-EC5D-C5C4-32A48B811FAB}"/>
                  </a:ext>
                </a:extLst>
              </p:cNvPr>
              <p:cNvSpPr txBox="1"/>
              <p:nvPr/>
            </p:nvSpPr>
            <p:spPr>
              <a:xfrm>
                <a:off x="8283414" y="4981200"/>
                <a:ext cx="3213517" cy="7318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IT" altLang="en-IT" sz="1600" i="1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The optimal choice</a:t>
                </a:r>
                <a:r>
                  <a:rPr kumimoji="0" lang="en-IT" altLang="en-IT" sz="1600" i="1" u="none" strike="noStrike" cap="none" normalizeH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 is</a:t>
                </a:r>
                <a:r>
                  <a:rPr kumimoji="0" lang="en-IT" altLang="en-IT" sz="1600" i="1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: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kumimoji="0" lang="en-IT" altLang="en-IT" sz="1600" i="1" u="none" strike="noStrike" cap="none" normalizeH="0" baseline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𝑚</m:t>
                            </m:r>
                            <m: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=</m:t>
                            </m:r>
                            <m:rad>
                              <m:radPr>
                                <m:degHide m:val="on"/>
                                <m:ctrlPr>
                                  <a:rPr lang="it-IT" altLang="en-IT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it-IT" altLang="en-IT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𝑇</m:t>
                                </m:r>
                              </m:e>
                            </m:rad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</m:e>
                          <m:e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𝐾</m:t>
                            </m:r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= </m:t>
                            </m:r>
                            <m:sSup>
                              <m:sSupPr>
                                <m:ctrlPr>
                                  <a:rPr lang="it-IT" altLang="en-IT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it-IT" altLang="en-IT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𝑇</m:t>
                                </m:r>
                              </m:e>
                              <m:sup>
                                <m:f>
                                  <m:fPr>
                                    <m:type m:val="skw"/>
                                    <m:ctrlP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den>
                                </m:f>
                              </m:sup>
                            </m:sSup>
                          </m:e>
                        </m:eqArr>
                      </m:e>
                    </m:d>
                  </m:oMath>
                </a14:m>
                <a:endParaRPr kumimoji="0" lang="en-IT" altLang="en-IT" sz="1600" b="0" i="1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0B5DC5-18F8-EC5D-C5C4-32A48B811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414" y="4981200"/>
                <a:ext cx="3213517" cy="731867"/>
              </a:xfrm>
              <a:prstGeom prst="rect">
                <a:avLst/>
              </a:prstGeom>
              <a:blipFill>
                <a:blip r:embed="rId5"/>
                <a:stretch>
                  <a:fillRect l="-1181" t="-196552" r="-394" b="-284483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623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7937-F54B-DB25-FD45-05D94A946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E4666D-1625-2E42-903F-E5E2E94BD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14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DB6E19-4551-C501-F809-42ADDE92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355" y="90617"/>
            <a:ext cx="2454965" cy="543697"/>
          </a:xfrm>
        </p:spPr>
        <p:txBody>
          <a:bodyPr>
            <a:normAutofit/>
          </a:bodyPr>
          <a:lstStyle/>
          <a:p>
            <a:r>
              <a:rPr lang="it-IT" dirty="0"/>
              <a:t>Conclusion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93414C-BD8A-2410-C833-412650B72937}"/>
              </a:ext>
            </a:extLst>
          </p:cNvPr>
          <p:cNvGrpSpPr/>
          <p:nvPr/>
        </p:nvGrpSpPr>
        <p:grpSpPr>
          <a:xfrm>
            <a:off x="1620918" y="2037508"/>
            <a:ext cx="8950163" cy="2782983"/>
            <a:chOff x="1620913" y="1374316"/>
            <a:chExt cx="8950163" cy="2782983"/>
          </a:xfrm>
        </p:grpSpPr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1111ADD7-B8D6-B015-2173-B2A52DBA8377}"/>
                </a:ext>
              </a:extLst>
            </p:cNvPr>
            <p:cNvSpPr txBox="1"/>
            <p:nvPr/>
          </p:nvSpPr>
          <p:spPr>
            <a:xfrm>
              <a:off x="2871881" y="3394915"/>
              <a:ext cx="6448226" cy="76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/>
            <a:lstStyle/>
            <a:p>
              <a:pPr algn="ctr"/>
              <a:r>
                <a:rPr lang="it-IT" sz="2400" i="1" dirty="0"/>
                <a:t>« The new distributional benchmark is attainable in stochastic environments. »</a:t>
              </a:r>
              <a:endParaRPr sz="2400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EE5F4F-B300-ACD3-8250-7D5A3D0437A0}"/>
                </a:ext>
              </a:extLst>
            </p:cNvPr>
            <p:cNvSpPr txBox="1"/>
            <p:nvPr/>
          </p:nvSpPr>
          <p:spPr>
            <a:xfrm>
              <a:off x="2952631" y="1374316"/>
              <a:ext cx="6286729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Main results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41B552D-1398-DB6D-8731-FECD38F17F53}"/>
                    </a:ext>
                  </a:extLst>
                </p:cNvPr>
                <p:cNvSpPr txBox="1"/>
                <p:nvPr/>
              </p:nvSpPr>
              <p:spPr>
                <a:xfrm>
                  <a:off x="1620913" y="2495639"/>
                  <a:ext cx="8950163" cy="54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it-IT" sz="1400" i="1" dirty="0"/>
                    <a:t>« In stochastic i.i.d. dual markets with bounded density under one-bit realistic feedback, sublinear </a:t>
                  </a:r>
                  <a:r>
                    <a:rPr lang="it-IT" sz="1400" i="1" dirty="0" err="1"/>
                    <a:t>regret</a:t>
                  </a:r>
                  <a:r>
                    <a:rPr lang="it-IT" sz="1400" i="1" dirty="0"/>
                    <a:t> with rate  </a:t>
                  </a:r>
                  <a14:m>
                    <m:oMath xmlns:m="http://schemas.openxmlformats.org/officeDocument/2006/math">
                      <m:r>
                        <a:rPr lang="it-IT" sz="140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it-IT" sz="1400" i="1" dirty="0" smtClean="0">
                          <a:latin typeface="Cambria Math" panose="02040503050406030204" pitchFamily="18" charset="0"/>
                        </a:rPr>
                        <m:t>( </m:t>
                      </m:r>
                      <m:sSup>
                        <m:sSupPr>
                          <m:ctrlPr>
                            <a:rPr lang="it-IT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4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f>
                            <m:fPr>
                              <m:type m:val="skw"/>
                              <m:ctrlPr>
                                <a:rPr lang="it-IT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1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it-IT" sz="14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r>
                        <a:rPr lang="it-IT" sz="1400" b="0" i="1" dirty="0" smtClean="0">
                          <a:latin typeface="Cambria Math" panose="02040503050406030204" pitchFamily="18" charset="0"/>
                        </a:rPr>
                        <m:t> )</m:t>
                      </m:r>
                    </m:oMath>
                  </a14:m>
                  <a:r>
                    <a:rPr lang="it-IT" sz="1400" i="1" dirty="0"/>
                    <a:t>  is achievable against the optimal GBB distribution of prices, while guaranteeing global budget balance. »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41B552D-1398-DB6D-8731-FECD38F17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0913" y="2495639"/>
                  <a:ext cx="8950163" cy="547394"/>
                </a:xfrm>
                <a:prstGeom prst="rect">
                  <a:avLst/>
                </a:prstGeom>
                <a:blipFill>
                  <a:blip r:embed="rId3"/>
                  <a:stretch>
                    <a:fillRect t="-2273" b="-47727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0435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5035-58B9-4BDC-8E98-F9C6E2D59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45C5D1-1E6E-8BC0-9CC8-FBA1341EB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15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DB7BCE-183B-28DB-1889-C0E63E457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Main references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F7BA8B-2C99-EF07-98BA-3071F9D3D9E6}"/>
              </a:ext>
            </a:extLst>
          </p:cNvPr>
          <p:cNvGrpSpPr/>
          <p:nvPr/>
        </p:nvGrpSpPr>
        <p:grpSpPr>
          <a:xfrm>
            <a:off x="1178012" y="1375105"/>
            <a:ext cx="6868247" cy="4420611"/>
            <a:chOff x="2102219" y="1093509"/>
            <a:chExt cx="7987562" cy="4949073"/>
          </a:xfrm>
        </p:grpSpPr>
        <p:pic>
          <p:nvPicPr>
            <p:cNvPr id="17" name="Picture 16" descr="A group of text boxes with text&#10;&#10;AI-generated content may be incorrect.">
              <a:extLst>
                <a:ext uri="{FF2B5EF4-FFF2-40B4-BE49-F238E27FC236}">
                  <a16:creationId xmlns:a16="http://schemas.microsoft.com/office/drawing/2014/main" id="{0F3C9CCB-B985-7137-55AB-62DF94D67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75" b="3486"/>
            <a:stretch>
              <a:fillRect/>
            </a:stretch>
          </p:blipFill>
          <p:spPr>
            <a:xfrm>
              <a:off x="2102219" y="1093509"/>
              <a:ext cx="7987562" cy="4949073"/>
            </a:xfrm>
            <a:prstGeom prst="rect">
              <a:avLst/>
            </a:prstGeom>
          </p:spPr>
        </p:pic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306CE71A-6CD9-B80D-0E12-577D924840C3}"/>
                </a:ext>
              </a:extLst>
            </p:cNvPr>
            <p:cNvSpPr/>
            <p:nvPr/>
          </p:nvSpPr>
          <p:spPr>
            <a:xfrm>
              <a:off x="7828030" y="2017337"/>
              <a:ext cx="169683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F48681-58F6-0F73-55B6-20B0A80104C1}"/>
                </a:ext>
              </a:extLst>
            </p:cNvPr>
            <p:cNvSpPr/>
            <p:nvPr/>
          </p:nvSpPr>
          <p:spPr>
            <a:xfrm>
              <a:off x="8074641" y="4580428"/>
              <a:ext cx="332297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28258B5-0BAD-D1E5-EF91-A9119C7FE6FA}"/>
                </a:ext>
              </a:extLst>
            </p:cNvPr>
            <p:cNvSpPr/>
            <p:nvPr/>
          </p:nvSpPr>
          <p:spPr>
            <a:xfrm rot="21097269">
              <a:off x="8074641" y="4290713"/>
              <a:ext cx="332297" cy="66696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47F8F9-AE60-842E-C760-8015DE270296}"/>
                </a:ext>
              </a:extLst>
            </p:cNvPr>
            <p:cNvSpPr/>
            <p:nvPr/>
          </p:nvSpPr>
          <p:spPr>
            <a:xfrm>
              <a:off x="8240789" y="5489890"/>
              <a:ext cx="332297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5311BBA-3060-4B2A-A771-0BED6A1BAEEA}"/>
                </a:ext>
              </a:extLst>
            </p:cNvPr>
            <p:cNvSpPr/>
            <p:nvPr/>
          </p:nvSpPr>
          <p:spPr>
            <a:xfrm>
              <a:off x="9163189" y="5484328"/>
              <a:ext cx="169498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CF9EF13-E3A2-489C-5C7B-7D8EFBDF2866}"/>
                </a:ext>
              </a:extLst>
            </p:cNvPr>
            <p:cNvSpPr txBox="1"/>
            <p:nvPr/>
          </p:nvSpPr>
          <p:spPr>
            <a:xfrm>
              <a:off x="8139726" y="5518270"/>
              <a:ext cx="4890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T" sz="1000" dirty="0">
                  <a:latin typeface="Papyrus" panose="020B0602040200020303" pitchFamily="34" charset="77"/>
                </a:rPr>
                <a:t>ADV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C62021-B24A-64B5-F7B5-9D7112A43802}"/>
                </a:ext>
              </a:extLst>
            </p:cNvPr>
            <p:cNvSpPr txBox="1"/>
            <p:nvPr/>
          </p:nvSpPr>
          <p:spPr>
            <a:xfrm>
              <a:off x="9088178" y="5484328"/>
              <a:ext cx="4890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T" sz="1000" dirty="0">
                  <a:latin typeface="Papyrus" panose="020B0602040200020303" pitchFamily="34" charset="77"/>
                </a:rPr>
                <a:t>ST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D27FD16-2904-697B-ACBD-1A078813D180}"/>
                </a:ext>
              </a:extLst>
            </p:cNvPr>
            <p:cNvSpPr/>
            <p:nvPr/>
          </p:nvSpPr>
          <p:spPr>
            <a:xfrm rot="19121605">
              <a:off x="8576614" y="5597648"/>
              <a:ext cx="129247" cy="180789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4FCAF8F-70A8-A597-EBAD-28EBF0A155A3}"/>
              </a:ext>
            </a:extLst>
          </p:cNvPr>
          <p:cNvSpPr txBox="1"/>
          <p:nvPr/>
        </p:nvSpPr>
        <p:spPr>
          <a:xfrm>
            <a:off x="8344602" y="3169913"/>
            <a:ext cx="26693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400" b="1" i="1" dirty="0">
                <a:solidFill>
                  <a:srgbClr val="213552"/>
                </a:solidFill>
                <a:latin typeface="+mj-lt"/>
              </a:rPr>
              <a:t>Under submission to ICML 2026!</a:t>
            </a:r>
          </a:p>
        </p:txBody>
      </p:sp>
    </p:spTree>
    <p:extLst>
      <p:ext uri="{BB962C8B-B14F-4D97-AF65-F5344CB8AC3E}">
        <p14:creationId xmlns:p14="http://schemas.microsoft.com/office/powerpoint/2010/main" val="148394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0B4FF-B6DA-D36F-D804-2CF893EC7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1426FB-2976-DB95-872B-EDF217848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16</a:t>
            </a:fld>
            <a:r>
              <a:rPr lang="it-IT" dirty="0"/>
              <a:t>/16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6BB1F-C48C-3544-6551-ECB12774D7B8}"/>
              </a:ext>
            </a:extLst>
          </p:cNvPr>
          <p:cNvSpPr txBox="1"/>
          <p:nvPr/>
        </p:nvSpPr>
        <p:spPr>
          <a:xfrm>
            <a:off x="3045995" y="2767280"/>
            <a:ext cx="610001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8000" b="1" i="1" dirty="0">
                <a:solidFill>
                  <a:srgbClr val="213552"/>
                </a:solidFill>
                <a:latin typeface="+mj-lt"/>
              </a:rPr>
              <a:t>THE END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D9909E05-2F07-829E-DDD5-02444999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355" y="90617"/>
            <a:ext cx="6971271" cy="543697"/>
          </a:xfrm>
        </p:spPr>
        <p:txBody>
          <a:bodyPr>
            <a:normAutofit/>
          </a:bodyPr>
          <a:lstStyle/>
          <a:p>
            <a:r>
              <a:rPr lang="it-IT" dirty="0"/>
              <a:t>Final slide</a:t>
            </a:r>
          </a:p>
        </p:txBody>
      </p:sp>
    </p:spTree>
    <p:extLst>
      <p:ext uri="{BB962C8B-B14F-4D97-AF65-F5344CB8AC3E}">
        <p14:creationId xmlns:p14="http://schemas.microsoft.com/office/powerpoint/2010/main" val="2631635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C99DC-1D99-5BD8-35F9-74E271EE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72A057-685F-C8AB-B586-8B8C49E2D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AB5755-5A9E-3577-DAD9-5597D3D6262F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GFT Estimator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8BC39F-8794-953C-B94F-9EE1E6047562}"/>
              </a:ext>
            </a:extLst>
          </p:cNvPr>
          <p:cNvGrpSpPr/>
          <p:nvPr/>
        </p:nvGrpSpPr>
        <p:grpSpPr>
          <a:xfrm>
            <a:off x="2523353" y="2664328"/>
            <a:ext cx="7145292" cy="369332"/>
            <a:chOff x="1961148" y="2664328"/>
            <a:chExt cx="7145292" cy="3693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ECDF1F1-7BC1-D2A2-31FC-532B8C820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3740" y="2671194"/>
              <a:ext cx="3822700" cy="355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F0E1AC-FD4C-5DA7-488C-C6B0FF9FD678}"/>
                </a:ext>
              </a:extLst>
            </p:cNvPr>
            <p:cNvSpPr txBox="1"/>
            <p:nvPr/>
          </p:nvSpPr>
          <p:spPr>
            <a:xfrm>
              <a:off x="1961148" y="2664328"/>
              <a:ext cx="275299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Idea of the decomposition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C26BA4E-3A0E-3D11-C063-139634EDA294}"/>
              </a:ext>
            </a:extLst>
          </p:cNvPr>
          <p:cNvGrpSpPr/>
          <p:nvPr/>
        </p:nvGrpSpPr>
        <p:grpSpPr>
          <a:xfrm>
            <a:off x="1489500" y="3499210"/>
            <a:ext cx="6185761" cy="2052569"/>
            <a:chOff x="2831053" y="3506031"/>
            <a:chExt cx="6185761" cy="2052569"/>
          </a:xfrm>
        </p:grpSpPr>
        <p:pic>
          <p:nvPicPr>
            <p:cNvPr id="13" name="Picture 12" descr="A math equations with black text&#10;&#10;AI-generated content may be incorrect.">
              <a:extLst>
                <a:ext uri="{FF2B5EF4-FFF2-40B4-BE49-F238E27FC236}">
                  <a16:creationId xmlns:a16="http://schemas.microsoft.com/office/drawing/2014/main" id="{B0D33E1A-1EE1-430E-3B20-B04B159DE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479"/>
            <a:stretch>
              <a:fillRect/>
            </a:stretch>
          </p:blipFill>
          <p:spPr>
            <a:xfrm>
              <a:off x="2831053" y="3506031"/>
              <a:ext cx="6185401" cy="205256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CF73D9-43E7-9D35-08CB-84AFFE8D05C6}"/>
                    </a:ext>
                  </a:extLst>
                </p14:cNvPr>
                <p14:cNvContentPartPr/>
                <p14:nvPr/>
              </p14:nvContentPartPr>
              <p14:xfrm>
                <a:off x="8976134" y="3860545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4CF73D9-43E7-9D35-08CB-84AFFE8D05C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13494" y="3797545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00E9948-4DFD-19D7-3963-22FD90C2CD42}"/>
                    </a:ext>
                  </a:extLst>
                </p14:cNvPr>
                <p14:cNvContentPartPr/>
                <p14:nvPr/>
              </p14:nvContentPartPr>
              <p14:xfrm>
                <a:off x="8141294" y="5351665"/>
                <a:ext cx="36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00E9948-4DFD-19D7-3963-22FD90C2CD4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78654" y="5288665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BEFC83-F3D9-1E3E-E2B8-CB5477540424}"/>
                    </a:ext>
                  </a:extLst>
                </p14:cNvPr>
                <p14:cNvContentPartPr/>
                <p14:nvPr/>
              </p14:nvContentPartPr>
              <p14:xfrm>
                <a:off x="8134385" y="5350753"/>
                <a:ext cx="360" cy="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BEFC83-F3D9-1E3E-E2B8-CB54775404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71385" y="528811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2B2B4A5-6D93-F78F-D453-EE7DE100B3DC}"/>
                </a:ext>
              </a:extLst>
            </p:cNvPr>
            <p:cNvGrpSpPr/>
            <p:nvPr/>
          </p:nvGrpSpPr>
          <p:grpSpPr>
            <a:xfrm>
              <a:off x="8989413" y="4318465"/>
              <a:ext cx="27401" cy="39975"/>
              <a:chOff x="8989413" y="4318465"/>
              <a:chExt cx="27401" cy="39975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946434F1-68B2-0D7F-34A9-9B3C25EF9FCC}"/>
                      </a:ext>
                    </a:extLst>
                  </p14:cNvPr>
                  <p14:cNvContentPartPr/>
                  <p14:nvPr/>
                </p14:nvContentPartPr>
                <p14:xfrm>
                  <a:off x="9016454" y="4318465"/>
                  <a:ext cx="360" cy="360"/>
                </p14:xfrm>
              </p:contentPart>
            </mc:Choice>
            <mc:Fallback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946434F1-68B2-0D7F-34A9-9B3C25EF9FC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53814" y="4255825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F482552A-1F48-7A90-F4D0-EE6F26C46AC5}"/>
                      </a:ext>
                    </a:extLst>
                  </p14:cNvPr>
                  <p14:cNvContentPartPr/>
                  <p14:nvPr/>
                </p14:nvContentPartPr>
                <p14:xfrm>
                  <a:off x="9007454" y="4335745"/>
                  <a:ext cx="360" cy="360"/>
                </p14:xfrm>
              </p:contentPart>
            </mc:Choice>
            <mc:Fallback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F482552A-1F48-7A90-F4D0-EE6F26C46AC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44814" y="4273105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BE9D7FE4-9E8C-D412-D0C0-1918A14EB9DF}"/>
                      </a:ext>
                    </a:extLst>
                  </p14:cNvPr>
                  <p14:cNvContentPartPr/>
                  <p14:nvPr/>
                </p14:nvContentPartPr>
                <p14:xfrm>
                  <a:off x="8989413" y="4358080"/>
                  <a:ext cx="360" cy="360"/>
                </p14:xfrm>
              </p:contentPart>
            </mc:Choice>
            <mc:Fallback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BE9D7FE4-9E8C-D412-D0C0-1918A14EB9D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26413" y="4295440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A979526-D29F-663E-EB83-6E21F6D4AAC9}"/>
              </a:ext>
            </a:extLst>
          </p:cNvPr>
          <p:cNvSpPr txBox="1"/>
          <p:nvPr/>
        </p:nvSpPr>
        <p:spPr>
          <a:xfrm>
            <a:off x="8503942" y="3831207"/>
            <a:ext cx="1641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>
                <a:solidFill>
                  <a:srgbClr val="213552"/>
                </a:solidFill>
              </a:rPr>
              <a:t>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565C3F5-CF8A-BFF6-4118-6CDD1E396693}"/>
                  </a:ext>
                </a:extLst>
              </p:cNvPr>
              <p:cNvSpPr txBox="1"/>
              <p:nvPr/>
            </p:nvSpPr>
            <p:spPr>
              <a:xfrm>
                <a:off x="7971334" y="5063674"/>
                <a:ext cx="3109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If you play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solidFill>
                          <a:srgbClr val="213552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it-IT" i="1" dirty="0" err="1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it-IT" i="1" dirty="0">
                    <a:solidFill>
                      <a:srgbClr val="213552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it-IT" b="0" i="1" dirty="0" smtClean="0">
                        <a:solidFill>
                          <a:srgbClr val="213552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it-IT" i="1" dirty="0">
                  <a:solidFill>
                    <a:srgbClr val="213552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565C3F5-CF8A-BFF6-4118-6CDD1E396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1334" y="5063674"/>
                <a:ext cx="3109749" cy="369332"/>
              </a:xfrm>
              <a:prstGeom prst="rect">
                <a:avLst/>
              </a:prstGeom>
              <a:blipFill>
                <a:blip r:embed="rId1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467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25965-9DD5-89DA-18C6-8A6EF8045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F1BF5E-BBC1-BD7E-F156-31D4582CD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6935C2-D389-2418-7DBB-576160268E80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Choice of parameters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D81E16B-D12B-29C9-6019-6FDB48F33ABD}"/>
              </a:ext>
            </a:extLst>
          </p:cNvPr>
          <p:cNvGrpSpPr/>
          <p:nvPr/>
        </p:nvGrpSpPr>
        <p:grpSpPr>
          <a:xfrm>
            <a:off x="3295507" y="2632212"/>
            <a:ext cx="5600984" cy="689819"/>
            <a:chOff x="3413460" y="2504084"/>
            <a:chExt cx="5600984" cy="68981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F98DE9-ADBA-FF56-1C02-6D062F77A681}"/>
                </a:ext>
              </a:extLst>
            </p:cNvPr>
            <p:cNvSpPr txBox="1"/>
            <p:nvPr/>
          </p:nvSpPr>
          <p:spPr>
            <a:xfrm>
              <a:off x="3413460" y="2664328"/>
              <a:ext cx="24765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Regret of Phase II and III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  <p:pic>
          <p:nvPicPr>
            <p:cNvPr id="8" name="Picture 7" descr="A black text with a plus and k square root&#10;&#10;AI-generated content may be incorrect.">
              <a:extLst>
                <a:ext uri="{FF2B5EF4-FFF2-40B4-BE49-F238E27FC236}">
                  <a16:creationId xmlns:a16="http://schemas.microsoft.com/office/drawing/2014/main" id="{1E456DBA-ECA7-387A-6A65-DF340443B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6033" y="2504084"/>
              <a:ext cx="2648411" cy="689819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053C045-AF3F-5601-4650-A62183433D50}"/>
              </a:ext>
            </a:extLst>
          </p:cNvPr>
          <p:cNvGrpSpPr/>
          <p:nvPr/>
        </p:nvGrpSpPr>
        <p:grpSpPr>
          <a:xfrm>
            <a:off x="4353191" y="3920980"/>
            <a:ext cx="3485615" cy="369332"/>
            <a:chOff x="4559968" y="3831207"/>
            <a:chExt cx="3485615" cy="369332"/>
          </a:xfrm>
        </p:grpSpPr>
        <p:pic>
          <p:nvPicPr>
            <p:cNvPr id="17" name="Picture 16" descr="A white background with black and white clouds&#10;&#10;AI-generated content may be incorrect.">
              <a:extLst>
                <a:ext uri="{FF2B5EF4-FFF2-40B4-BE49-F238E27FC236}">
                  <a16:creationId xmlns:a16="http://schemas.microsoft.com/office/drawing/2014/main" id="{8BAFD3E8-D829-92B7-0965-E7680441E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9083" y="3857123"/>
              <a:ext cx="2476500" cy="3175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3C7C797-E45B-FB36-45A3-AB1B875E649B}"/>
                </a:ext>
              </a:extLst>
            </p:cNvPr>
            <p:cNvSpPr txBox="1"/>
            <p:nvPr/>
          </p:nvSpPr>
          <p:spPr>
            <a:xfrm>
              <a:off x="4559968" y="3831207"/>
              <a:ext cx="50443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Set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56B3A6-16F0-9AF4-B0F5-AC8BCD535CAA}"/>
              </a:ext>
            </a:extLst>
          </p:cNvPr>
          <p:cNvGrpSpPr/>
          <p:nvPr/>
        </p:nvGrpSpPr>
        <p:grpSpPr>
          <a:xfrm>
            <a:off x="3497858" y="4889261"/>
            <a:ext cx="5196281" cy="660400"/>
            <a:chOff x="2753562" y="4733474"/>
            <a:chExt cx="5113729" cy="66040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369C507-018C-C4B5-6EC9-3C2FA22EA6C6}"/>
                </a:ext>
              </a:extLst>
            </p:cNvPr>
            <p:cNvSpPr txBox="1"/>
            <p:nvPr/>
          </p:nvSpPr>
          <p:spPr>
            <a:xfrm>
              <a:off x="2753562" y="4903072"/>
              <a:ext cx="69668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Solve</a:t>
              </a:r>
            </a:p>
          </p:txBody>
        </p:sp>
        <p:pic>
          <p:nvPicPr>
            <p:cNvPr id="22" name="Picture 21" descr="A black and white math symbols&#10;&#10;AI-generated content may be incorrect.">
              <a:extLst>
                <a:ext uri="{FF2B5EF4-FFF2-40B4-BE49-F238E27FC236}">
                  <a16:creationId xmlns:a16="http://schemas.microsoft.com/office/drawing/2014/main" id="{C4B4094F-A059-3C56-9E59-FD3BB2695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291" y="4733474"/>
              <a:ext cx="4064000" cy="66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7016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A1623-DBDD-DB09-F66F-D14F07AA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A1879B-896E-F833-22C2-D29FF8102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8DFBDB-C1F7-4FAC-3D35-E8F6B4EAFDC3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Bounded density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F87C387-A59F-F2BA-6A67-FBCD7FFC097F}"/>
              </a:ext>
            </a:extLst>
          </p:cNvPr>
          <p:cNvGrpSpPr/>
          <p:nvPr/>
        </p:nvGrpSpPr>
        <p:grpSpPr>
          <a:xfrm>
            <a:off x="4395109" y="2804394"/>
            <a:ext cx="3401780" cy="393396"/>
            <a:chOff x="4472603" y="2752354"/>
            <a:chExt cx="3401780" cy="3933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168FDC7-9F7D-E80E-2257-1F411355C56A}"/>
                </a:ext>
              </a:extLst>
            </p:cNvPr>
            <p:cNvSpPr txBox="1"/>
            <p:nvPr/>
          </p:nvSpPr>
          <p:spPr>
            <a:xfrm>
              <a:off x="4472603" y="2776418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Definition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  <p:pic>
          <p:nvPicPr>
            <p:cNvPr id="4" name="Picture 3" descr="A close-up of symbols&#10;&#10;AI-generated content may be incorrect.">
              <a:extLst>
                <a:ext uri="{FF2B5EF4-FFF2-40B4-BE49-F238E27FC236}">
                  <a16:creationId xmlns:a16="http://schemas.microsoft.com/office/drawing/2014/main" id="{D5F42221-0950-6422-214C-931959FCC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8869" y="2752354"/>
              <a:ext cx="1595514" cy="369332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CD6BE9-3060-42A4-E30D-A5F0D51021E9}"/>
              </a:ext>
            </a:extLst>
          </p:cNvPr>
          <p:cNvGrpSpPr/>
          <p:nvPr/>
        </p:nvGrpSpPr>
        <p:grpSpPr>
          <a:xfrm>
            <a:off x="2600660" y="3761710"/>
            <a:ext cx="6990680" cy="1085000"/>
            <a:chOff x="2925588" y="3609503"/>
            <a:chExt cx="6990680" cy="108500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B5BDB27-C2BA-B7E0-01FA-536ADF87A187}"/>
                </a:ext>
              </a:extLst>
            </p:cNvPr>
            <p:cNvGrpSpPr/>
            <p:nvPr/>
          </p:nvGrpSpPr>
          <p:grpSpPr>
            <a:xfrm>
              <a:off x="4473315" y="3609503"/>
              <a:ext cx="5442953" cy="1085000"/>
              <a:chOff x="1306763" y="3537115"/>
              <a:chExt cx="5969000" cy="1305502"/>
            </a:xfrm>
          </p:grpSpPr>
          <p:pic>
            <p:nvPicPr>
              <p:cNvPr id="10" name="Picture 9" descr="A math equations on a white background&#10;&#10;AI-generated content may be incorrect.">
                <a:extLst>
                  <a:ext uri="{FF2B5EF4-FFF2-40B4-BE49-F238E27FC236}">
                    <a16:creationId xmlns:a16="http://schemas.microsoft.com/office/drawing/2014/main" id="{E1DFDBE2-D717-1A75-BE2B-B9C5C95C0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65194"/>
              <a:stretch>
                <a:fillRect/>
              </a:stretch>
            </p:blipFill>
            <p:spPr>
              <a:xfrm>
                <a:off x="1306763" y="3537115"/>
                <a:ext cx="5969000" cy="616084"/>
              </a:xfrm>
              <a:prstGeom prst="rect">
                <a:avLst/>
              </a:prstGeom>
            </p:spPr>
          </p:pic>
          <p:pic>
            <p:nvPicPr>
              <p:cNvPr id="12" name="Picture 11" descr="A math equations on a white background&#10;&#10;AI-generated content may be incorrect.">
                <a:extLst>
                  <a:ext uri="{FF2B5EF4-FFF2-40B4-BE49-F238E27FC236}">
                    <a16:creationId xmlns:a16="http://schemas.microsoft.com/office/drawing/2014/main" id="{1D80322F-9228-9FD5-C8C6-9634B492FB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4636"/>
              <a:stretch>
                <a:fillRect/>
              </a:stretch>
            </p:blipFill>
            <p:spPr>
              <a:xfrm>
                <a:off x="1306763" y="4226533"/>
                <a:ext cx="5969000" cy="616084"/>
              </a:xfrm>
              <a:prstGeom prst="rect">
                <a:avLst/>
              </a:prstGeom>
            </p:spPr>
          </p:pic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697742-A4B1-C4D6-9271-B4431732572A}"/>
                </a:ext>
              </a:extLst>
            </p:cNvPr>
            <p:cNvSpPr txBox="1"/>
            <p:nvPr/>
          </p:nvSpPr>
          <p:spPr>
            <a:xfrm>
              <a:off x="2925588" y="3912795"/>
              <a:ext cx="91175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1800" i="1" dirty="0">
                  <a:solidFill>
                    <a:srgbClr val="213552"/>
                  </a:solidFill>
                </a:rPr>
                <a:t>Implies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328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8CD0-2F0B-3AD2-9C8B-E4A3F7A74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4C3E8B-A64B-796F-AD18-03BE3B1B2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EB5E52-4EE9-117D-9F5A-BABB27DF5161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Expected GFT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B439F-67CF-505A-B5EA-82830A8CD6AB}"/>
              </a:ext>
            </a:extLst>
          </p:cNvPr>
          <p:cNvGrpSpPr/>
          <p:nvPr/>
        </p:nvGrpSpPr>
        <p:grpSpPr>
          <a:xfrm>
            <a:off x="3167369" y="4103176"/>
            <a:ext cx="6174320" cy="723900"/>
            <a:chOff x="2150530" y="4103175"/>
            <a:chExt cx="6174320" cy="723900"/>
          </a:xfrm>
        </p:grpSpPr>
        <p:pic>
          <p:nvPicPr>
            <p:cNvPr id="16" name="Picture 15" descr="A black and white math equation&#10;&#10;AI-generated content may be incorrect.">
              <a:extLst>
                <a:ext uri="{FF2B5EF4-FFF2-40B4-BE49-F238E27FC236}">
                  <a16:creationId xmlns:a16="http://schemas.microsoft.com/office/drawing/2014/main" id="{430CAC23-30B9-24D8-571E-657345966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150" y="4103175"/>
              <a:ext cx="4457700" cy="7239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66BE121-E18B-3E84-EF55-B0DA722EBBC6}"/>
                </a:ext>
              </a:extLst>
            </p:cNvPr>
            <p:cNvSpPr txBox="1"/>
            <p:nvPr/>
          </p:nvSpPr>
          <p:spPr>
            <a:xfrm>
              <a:off x="2150530" y="4280459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Explicitly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BA5B0BD-9A69-4BC2-98E3-FABA6C7AC0A3}"/>
              </a:ext>
            </a:extLst>
          </p:cNvPr>
          <p:cNvGrpSpPr/>
          <p:nvPr/>
        </p:nvGrpSpPr>
        <p:grpSpPr>
          <a:xfrm>
            <a:off x="3651525" y="3127117"/>
            <a:ext cx="5169684" cy="419100"/>
            <a:chOff x="3143305" y="3163760"/>
            <a:chExt cx="5169684" cy="41910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1D3A0C5-B0CC-68F9-AE71-210DB54EA461}"/>
                </a:ext>
              </a:extLst>
            </p:cNvPr>
            <p:cNvSpPr txBox="1"/>
            <p:nvPr/>
          </p:nvSpPr>
          <p:spPr>
            <a:xfrm>
              <a:off x="3143305" y="3163760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Remember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5D8A344-5B66-12C3-BCF2-B7A2714EF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3989" y="3163760"/>
              <a:ext cx="342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55214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D543B-EA3D-5DBB-650D-20BE228B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1FE647-84F7-6520-B413-67D1685A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60490A-640F-1DD0-93A0-6792DE332EAC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High-probability analysis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A3161F-2E2D-8DD9-1EFE-BE1CC87C379F}"/>
              </a:ext>
            </a:extLst>
          </p:cNvPr>
          <p:cNvGrpSpPr/>
          <p:nvPr/>
        </p:nvGrpSpPr>
        <p:grpSpPr>
          <a:xfrm>
            <a:off x="828169" y="3488866"/>
            <a:ext cx="3316706" cy="727327"/>
            <a:chOff x="3950368" y="2892676"/>
            <a:chExt cx="3316706" cy="72732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1C24DE-5ABA-413B-0702-30ABEBBEE2DA}"/>
                </a:ext>
              </a:extLst>
            </p:cNvPr>
            <p:cNvSpPr txBox="1"/>
            <p:nvPr/>
          </p:nvSpPr>
          <p:spPr>
            <a:xfrm>
              <a:off x="3950368" y="3063359"/>
              <a:ext cx="21857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Set failure probability</a:t>
              </a:r>
            </a:p>
          </p:txBody>
        </p:sp>
        <p:pic>
          <p:nvPicPr>
            <p:cNvPr id="5" name="Picture 4" descr="A number and number on a white background&#10;&#10;AI-generated content may be incorrect.">
              <a:extLst>
                <a:ext uri="{FF2B5EF4-FFF2-40B4-BE49-F238E27FC236}">
                  <a16:creationId xmlns:a16="http://schemas.microsoft.com/office/drawing/2014/main" id="{73A40718-8817-82EC-5D17-8E845D989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635"/>
            <a:stretch>
              <a:fillRect/>
            </a:stretch>
          </p:blipFill>
          <p:spPr>
            <a:xfrm>
              <a:off x="6448925" y="2892676"/>
              <a:ext cx="818149" cy="727327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F43C337-4352-86AB-5F9F-D43794A412BE}"/>
              </a:ext>
            </a:extLst>
          </p:cNvPr>
          <p:cNvGrpSpPr/>
          <p:nvPr/>
        </p:nvGrpSpPr>
        <p:grpSpPr>
          <a:xfrm>
            <a:off x="5010902" y="3165905"/>
            <a:ext cx="6349161" cy="1299221"/>
            <a:chOff x="3294397" y="4288382"/>
            <a:chExt cx="6349161" cy="129922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0AB18E-773A-EF94-A2E4-F6BA7405EE3D}"/>
                </a:ext>
              </a:extLst>
            </p:cNvPr>
            <p:cNvGrpSpPr/>
            <p:nvPr/>
          </p:nvGrpSpPr>
          <p:grpSpPr>
            <a:xfrm>
              <a:off x="3294397" y="4952603"/>
              <a:ext cx="6349161" cy="635000"/>
              <a:chOff x="1730042" y="4221651"/>
              <a:chExt cx="6349161" cy="635000"/>
            </a:xfrm>
          </p:grpSpPr>
          <p:pic>
            <p:nvPicPr>
              <p:cNvPr id="11" name="Picture 10" descr="A math equation with a number of symbols&#10;&#10;AI-generated content may be incorrect.">
                <a:extLst>
                  <a:ext uri="{FF2B5EF4-FFF2-40B4-BE49-F238E27FC236}">
                    <a16:creationId xmlns:a16="http://schemas.microsoft.com/office/drawing/2014/main" id="{20C88DB1-945F-8948-8B7E-B6ED47C657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5403" y="4221651"/>
                <a:ext cx="3733800" cy="63500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77D8C6-9AA4-B591-D878-464F33428352}"/>
                  </a:ext>
                </a:extLst>
              </p:cNvPr>
              <p:cNvSpPr txBox="1"/>
              <p:nvPr/>
            </p:nvSpPr>
            <p:spPr>
              <a:xfrm>
                <a:off x="1730042" y="4392414"/>
                <a:ext cx="2504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And in the logarithm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74A2749-66CF-849F-F6CE-105BC0FB9D9A}"/>
                </a:ext>
              </a:extLst>
            </p:cNvPr>
            <p:cNvGrpSpPr/>
            <p:nvPr/>
          </p:nvGrpSpPr>
          <p:grpSpPr>
            <a:xfrm>
              <a:off x="4654212" y="4288382"/>
              <a:ext cx="2839456" cy="381000"/>
              <a:chOff x="3942344" y="3973485"/>
              <a:chExt cx="2839456" cy="381000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BB3487-C5ED-7A94-1C35-BD2F863B4DE3}"/>
                  </a:ext>
                </a:extLst>
              </p:cNvPr>
              <p:cNvSpPr txBox="1"/>
              <p:nvPr/>
            </p:nvSpPr>
            <p:spPr>
              <a:xfrm>
                <a:off x="3942344" y="3985153"/>
                <a:ext cx="9424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So that</a:t>
                </a:r>
              </a:p>
            </p:txBody>
          </p:sp>
          <p:pic>
            <p:nvPicPr>
              <p:cNvPr id="25" name="Picture 24" descr="A black and white symbol&#10;&#10;AI-generated content may be incorrect.">
                <a:extLst>
                  <a:ext uri="{FF2B5EF4-FFF2-40B4-BE49-F238E27FC236}">
                    <a16:creationId xmlns:a16="http://schemas.microsoft.com/office/drawing/2014/main" id="{60FF2A8D-EFB7-E476-5869-713CF4A32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10200" y="3973485"/>
                <a:ext cx="1371600" cy="381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5789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66B6B-3DF5-078A-2044-CAFE061B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A0C421-3F88-B103-2FE5-13A70F1F9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04463-BB5D-1370-8AEA-20A1EF6F1F97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Feedback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AFA478-3A0E-0088-3ED4-624E80C2766A}"/>
              </a:ext>
            </a:extLst>
          </p:cNvPr>
          <p:cNvSpPr txBox="1"/>
          <p:nvPr/>
        </p:nvSpPr>
        <p:spPr>
          <a:xfrm>
            <a:off x="4359442" y="3012663"/>
            <a:ext cx="1576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>
                <a:solidFill>
                  <a:srgbClr val="213552"/>
                </a:solidFill>
              </a:rPr>
              <a:t>Full feedback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55D8DF-43EA-90A5-68BE-A985245EEB5C}"/>
              </a:ext>
            </a:extLst>
          </p:cNvPr>
          <p:cNvSpPr txBox="1"/>
          <p:nvPr/>
        </p:nvSpPr>
        <p:spPr>
          <a:xfrm>
            <a:off x="4237121" y="3632451"/>
            <a:ext cx="1820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 err="1">
                <a:solidFill>
                  <a:srgbClr val="213552"/>
                </a:solidFill>
              </a:rPr>
              <a:t>Bandit</a:t>
            </a:r>
            <a:r>
              <a:rPr lang="it-IT" i="1" dirty="0">
                <a:solidFill>
                  <a:srgbClr val="213552"/>
                </a:solidFill>
              </a:rPr>
              <a:t> feedback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CCBA83-0449-BA14-7BBE-47EA29D52668}"/>
              </a:ext>
            </a:extLst>
          </p:cNvPr>
          <p:cNvSpPr txBox="1"/>
          <p:nvPr/>
        </p:nvSpPr>
        <p:spPr>
          <a:xfrm>
            <a:off x="4176963" y="4252239"/>
            <a:ext cx="19410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 err="1">
                <a:solidFill>
                  <a:srgbClr val="213552"/>
                </a:solidFill>
              </a:rPr>
              <a:t>Realistic</a:t>
            </a:r>
            <a:r>
              <a:rPr lang="it-IT" i="1" dirty="0">
                <a:solidFill>
                  <a:srgbClr val="213552"/>
                </a:solidFill>
              </a:rPr>
              <a:t> feedback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31CEC4-E338-A50D-5D91-98DCD529943A}"/>
                  </a:ext>
                </a:extLst>
              </p:cNvPr>
              <p:cNvSpPr txBox="1"/>
              <p:nvPr/>
            </p:nvSpPr>
            <p:spPr>
              <a:xfrm>
                <a:off x="6256424" y="3012663"/>
                <a:ext cx="8542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T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31CEC4-E338-A50D-5D91-98DCD5299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424" y="3012663"/>
                <a:ext cx="854242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7D2CC0-C672-9B5D-57D9-812B65FAE7ED}"/>
                  </a:ext>
                </a:extLst>
              </p:cNvPr>
              <p:cNvSpPr txBox="1"/>
              <p:nvPr/>
            </p:nvSpPr>
            <p:spPr>
              <a:xfrm>
                <a:off x="6248399" y="3632451"/>
                <a:ext cx="196916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𝐺𝐹𝑇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T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7D2CC0-C672-9B5D-57D9-812B65FAE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399" y="3632451"/>
                <a:ext cx="1969169" cy="369332"/>
              </a:xfrm>
              <a:prstGeom prst="rect">
                <a:avLst/>
              </a:prstGeom>
              <a:blipFill>
                <a:blip r:embed="rId4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DAA92DE6-2ECE-212F-46BB-406FC4F2EE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616" y="4264271"/>
            <a:ext cx="1966183" cy="33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94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8CC28-CE9F-94C9-6BFB-43FCD874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23720-8FF4-E526-D150-BCA347BC3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AA2816-159F-7E40-8D64-E5069418F1A7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More results</a:t>
            </a:r>
          </a:p>
        </p:txBody>
      </p:sp>
      <p:pic>
        <p:nvPicPr>
          <p:cNvPr id="7" name="Picture 6" descr="A table with text on it&#10;&#10;AI-generated content may be incorrect.">
            <a:extLst>
              <a:ext uri="{FF2B5EF4-FFF2-40B4-BE49-F238E27FC236}">
                <a16:creationId xmlns:a16="http://schemas.microsoft.com/office/drawing/2014/main" id="{72E9A8CD-42D2-F2A9-CAB2-9D3FCE3942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045" y="2849813"/>
            <a:ext cx="7458708" cy="196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0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3181</TotalTime>
  <Words>807</Words>
  <Application>Microsoft Macintosh PowerPoint</Application>
  <PresentationFormat>Widescreen</PresentationFormat>
  <Paragraphs>169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Papyrus</vt:lpstr>
      <vt:lpstr>Wingdings</vt:lpstr>
      <vt:lpstr>Office Theme</vt:lpstr>
      <vt:lpstr>Online Bilateral Trade: Learning the Optimal Policy in a Stochastic Environment</vt:lpstr>
      <vt:lpstr>Scenario</vt:lpstr>
      <vt:lpstr>Framework</vt:lpstr>
      <vt:lpstr>Objective function</vt:lpstr>
      <vt:lpstr>Global Budget Balance</vt:lpstr>
      <vt:lpstr>A new benchmark</vt:lpstr>
      <vt:lpstr>A theoretical work</vt:lpstr>
      <vt:lpstr>An overview of results</vt:lpstr>
      <vt:lpstr>Three-Phase approach</vt:lpstr>
      <vt:lpstr>Phase I – Budget Accumulation</vt:lpstr>
      <vt:lpstr>Phase II – Pure Exploration</vt:lpstr>
      <vt:lpstr>Phase III – Optimization</vt:lpstr>
      <vt:lpstr>Parameters</vt:lpstr>
      <vt:lpstr>Conclusion</vt:lpstr>
      <vt:lpstr>Main references</vt:lpstr>
      <vt:lpstr>Final slide</vt:lpstr>
      <vt:lpstr>Extra</vt:lpstr>
      <vt:lpstr>Extra</vt:lpstr>
      <vt:lpstr>Extra</vt:lpstr>
      <vt:lpstr>Extra</vt:lpstr>
      <vt:lpstr>Extra</vt:lpstr>
      <vt:lpstr>Extra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Riccardo Simonetti</dc:creator>
  <cp:lastModifiedBy>Mattia Piccinato</cp:lastModifiedBy>
  <cp:revision>28</cp:revision>
  <dcterms:created xsi:type="dcterms:W3CDTF">2019-02-13T14:58:22Z</dcterms:created>
  <dcterms:modified xsi:type="dcterms:W3CDTF">2026-03-25T11:44:16Z</dcterms:modified>
</cp:coreProperties>
</file>